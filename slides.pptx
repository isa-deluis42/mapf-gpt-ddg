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0998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[ALL] Brief intros (Sparsh, Shane, Isabel) — keep under 10 seconds. Then hand to Sparsh.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[Sparsh, ~30s] Open with the warehouse / delivery framing. Make the HRI angle explicit — currently zero humans in the loop. End by motivating why human judgement could plausibly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[Sparsh, ~35s] This is the load-bearing motivation slide. Walk down the four rows: each prior approach has a clear limit, and our work explicitly targets DDG's gap. Pause on row 3 (44% threshold-wrong number — already lands as a punchline). Then read the 'what we add' bullets — these set up the rest of the talk. End with the RQ verbatim. The audience should walk out of THIS slide knowing what we built and why it's a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[Shane, ~30s] Three open challenges. The 44% number is the empirical hook — say it slowly. Frame challenge 3 as motivating the AL extension we discuss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[Shane, ~35s] Two boxed insights side-by-side. Linger on 'override, don't augment' — this is the one technical idea the whole project hangs on. The acquisition formula doesn't need to be read aloud; the audience just needs to register that there 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~45s] Lead with the top two table rows — those are the headline. Then point at the figure: same data, different views. End on the walk-away: NO auto cost. That sells the override-don't-augment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~35s] This is the slide that frames our depth contribution. Walk down the columns — Stages 3 and 4 share the same 56-label budget as Stage 2 and only the acquisition rule differs. Stages 3 &amp; 4 are still being collected, but the framework itself is the contribution: any ordering of the [PENDING] cells answers a substantive AL-design question. Once we have the numbers, we can update this single slide in PowerPoint and the whole story crystallises.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~25s] Three walk-aways, three honest limitations. Don't oversell — the audience respects the variance disclosure. Land softly to invite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363F8E93-E55D-150F-F1E2-064F15495EEA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409925553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F2E55"/>
                </a:solidFill>
              </a:rPr>
              <a:t>Human-in-the-Loop Congestion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F2E55"/>
                </a:solidFill>
              </a:rPr>
              <a:t>for Multi-Agent Pathfinding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555555"/>
                </a:solidFill>
              </a:rPr>
              <a:t>Replacing DDG's hand-tuned threshold with learned, human-aligned segment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2A2A"/>
                </a:solidFill>
              </a:rPr>
              <a:t>Shane Pornprinya  ·  Isabel De Luis  ·  Sparsh Bansal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94960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>
                <a:solidFill>
                  <a:srgbClr val="555555"/>
                </a:solidFill>
              </a:rPr>
              <a:t>Algorithmic </a:t>
            </a:r>
            <a:r>
              <a:rPr sz="1600" b="0" dirty="0">
                <a:solidFill>
                  <a:srgbClr val="555555"/>
                </a:solidFill>
              </a:rPr>
              <a:t>Human-Robot Interaction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Motivation: where MAPF policies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2756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Multi-agent pathfinding (MAPF) coordinates teams of robots in shared spaces</a:t>
            </a:r>
            <a:r>
              <a:rPr lang="en-US" sz="2000" b="0" dirty="0">
                <a:solidFill>
                  <a:srgbClr val="2A2A2A"/>
                </a:solidFill>
              </a:rPr>
              <a:t>:</a:t>
            </a:r>
            <a:r>
              <a:rPr sz="2000" b="0" dirty="0">
                <a:solidFill>
                  <a:srgbClr val="2A2A2A"/>
                </a:solidFill>
              </a:rPr>
              <a:t> </a:t>
            </a:r>
            <a:r>
              <a:rPr sz="2000" b="1" dirty="0">
                <a:solidFill>
                  <a:srgbClr val="2A2A2A"/>
                </a:solidFill>
              </a:rPr>
              <a:t>warehouses, delivery, search-and-rescue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State-of-the-art: </a:t>
            </a:r>
            <a:r>
              <a:rPr sz="2000" b="1" dirty="0">
                <a:solidFill>
                  <a:srgbClr val="1F2E55"/>
                </a:solidFill>
              </a:rPr>
              <a:t>MAPF-GPT</a:t>
            </a:r>
            <a:r>
              <a:rPr sz="2000" b="0" dirty="0">
                <a:solidFill>
                  <a:srgbClr val="2A2A2A"/>
                </a:solidFill>
              </a:rPr>
              <a:t>, a transformer policy imitation-trained on solver demos. Cheap at inference; brittle on the long tail.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Failure mode: </a:t>
            </a:r>
            <a:r>
              <a:rPr sz="2000" b="1" dirty="0">
                <a:solidFill>
                  <a:srgbClr val="2A2A2A"/>
                </a:solidFill>
              </a:rPr>
              <a:t>congestion</a:t>
            </a:r>
            <a:r>
              <a:rPr sz="2000" b="0" dirty="0">
                <a:solidFill>
                  <a:srgbClr val="2A2A2A"/>
                </a:solidFill>
              </a:rPr>
              <a:t> </a:t>
            </a:r>
            <a:r>
              <a:rPr lang="en-US" sz="2000" b="0" dirty="0">
                <a:solidFill>
                  <a:srgbClr val="2A2A2A"/>
                </a:solidFill>
              </a:rPr>
              <a:t>as</a:t>
            </a:r>
            <a:r>
              <a:rPr sz="2000" b="0" dirty="0">
                <a:solidFill>
                  <a:srgbClr val="2A2A2A"/>
                </a:solidFill>
              </a:rPr>
              <a:t> agents bunched at corridor pinch-points, deadlocks, swap conflicts.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The HRI question: </a:t>
            </a:r>
            <a:r>
              <a:rPr sz="2000" b="1" dirty="0">
                <a:solidFill>
                  <a:srgbClr val="2A2A2A"/>
                </a:solidFill>
              </a:rPr>
              <a:t>currently there is no human in this loop.</a:t>
            </a:r>
            <a:r>
              <a:rPr sz="2000" b="0" dirty="0">
                <a:solidFill>
                  <a:srgbClr val="2A2A2A"/>
                </a:solidFill>
              </a:rPr>
              <a:t> The policy trains on solver demos and is refined by a hand-tuned threshold. </a:t>
            </a:r>
            <a:r>
              <a:rPr lang="en-US" sz="2000" b="0" dirty="0">
                <a:solidFill>
                  <a:srgbClr val="2A2A2A"/>
                </a:solidFill>
              </a:rPr>
              <a:t>Could</a:t>
            </a:r>
            <a:r>
              <a:rPr sz="2000" b="0" dirty="0">
                <a:solidFill>
                  <a:srgbClr val="2A2A2A"/>
                </a:solidFill>
              </a:rPr>
              <a:t> human judgement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800" b="1" dirty="0">
                <a:solidFill>
                  <a:srgbClr val="1F2E55"/>
                </a:solidFill>
              </a:rPr>
              <a:t>Prior work and</a:t>
            </a:r>
            <a:r>
              <a:rPr sz="2800" b="1" dirty="0">
                <a:solidFill>
                  <a:srgbClr val="1F2E55"/>
                </a:solidFill>
              </a:rPr>
              <a:t> </a:t>
            </a:r>
            <a:r>
              <a:rPr lang="en-US" sz="2800" b="1" dirty="0">
                <a:solidFill>
                  <a:srgbClr val="1F2E55"/>
                </a:solidFill>
              </a:rPr>
              <a:t>our contribution</a:t>
            </a:r>
            <a:endParaRPr sz="2800" b="1" dirty="0">
              <a:solidFill>
                <a:srgbClr val="1F2E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Each prior approach leaves a gap that motivates the next.  Our work targets the gap left by DDG.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050394"/>
              </p:ext>
            </p:extLst>
          </p:nvPr>
        </p:nvGraphicFramePr>
        <p:xfrm>
          <a:off x="548640" y="15544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6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7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Human in loop?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1F2E55"/>
                          </a:solidFill>
                        </a:rPr>
                        <a:t>Limit</a:t>
                      </a:r>
                      <a:r>
                        <a:rPr lang="en-US" sz="1300" b="1" dirty="0">
                          <a:solidFill>
                            <a:srgbClr val="1F2E55"/>
                          </a:solidFill>
                        </a:rPr>
                        <a:t>ations</a:t>
                      </a:r>
                      <a:endParaRPr sz="1300" b="1" dirty="0">
                        <a:solidFill>
                          <a:srgbClr val="1F2E55"/>
                        </a:solidFill>
                      </a:endParaRP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MAPF-GPT  [Andreychuk '24]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Imitation-learn a transformer from offline LaCAM demos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Long-tail congested cases under-represented in demos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DAgger  [Ross '11]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Iteratively roll the policy, expert-relabel every visited state, retrain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 (expert = solver)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Uniform expert calls per state</a:t>
                      </a:r>
                      <a:r>
                        <a:rPr lang="en-US" sz="1200" dirty="0">
                          <a:solidFill>
                            <a:srgbClr val="2A2A2A"/>
                          </a:solidFill>
                        </a:rPr>
                        <a:t>, making it</a:t>
                      </a:r>
                      <a:r>
                        <a:rPr sz="1200" dirty="0">
                          <a:solidFill>
                            <a:srgbClr val="2A2A2A"/>
                          </a:solidFill>
                        </a:rPr>
                        <a:t> expensive at scale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Original DDG  [Andreychuk '25]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Threshold-gated DAgger: invoke expert only when max_diff &gt;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Threshold wrong on 44% of borderline cases; midrange discarded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★  Our work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Learned classifier + human override + acquisition-strategy comparison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Yes (replay tool)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2A2A2A"/>
                          </a:solidFill>
                        </a:rPr>
                        <a:t>(FILL</a:t>
                      </a:r>
                      <a:r>
                        <a:rPr sz="1200" dirty="0">
                          <a:solidFill>
                            <a:srgbClr val="2A2A2A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19856"/>
            <a:ext cx="14630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</a:rPr>
              <a:t>What we add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1064240" cy="1049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dirty="0">
                <a:solidFill>
                  <a:srgbClr val="2A2A2A"/>
                </a:solidFill>
              </a:rPr>
              <a:t>• </a:t>
            </a:r>
            <a:r>
              <a:rPr sz="1700" b="0" dirty="0">
                <a:solidFill>
                  <a:srgbClr val="2A2A2A"/>
                </a:solidFill>
              </a:rPr>
              <a:t>Replace DDG's hand-tuned threshold with a </a:t>
            </a:r>
            <a:r>
              <a:rPr sz="1700" b="1" dirty="0">
                <a:solidFill>
                  <a:srgbClr val="1F2E55"/>
                </a:solidFill>
              </a:rPr>
              <a:t>learned segment-ranking classifier</a:t>
            </a:r>
            <a:r>
              <a:rPr sz="1700" b="0" dirty="0">
                <a:solidFill>
                  <a:srgbClr val="2A2A2A"/>
                </a:solidFill>
              </a:rPr>
              <a:t> trained with human pairwise verdicts.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2A2A2A"/>
                </a:solidFill>
              </a:rPr>
              <a:t>• </a:t>
            </a:r>
            <a:r>
              <a:rPr sz="1700" b="0" dirty="0">
                <a:solidFill>
                  <a:srgbClr val="2A2A2A"/>
                </a:solidFill>
              </a:rPr>
              <a:t>Compare </a:t>
            </a:r>
            <a:r>
              <a:rPr sz="1700" b="1" dirty="0">
                <a:solidFill>
                  <a:srgbClr val="2A2A2A"/>
                </a:solidFill>
              </a:rPr>
              <a:t>four annotation-acquisition strategies</a:t>
            </a:r>
            <a:r>
              <a:rPr sz="1700" b="0" dirty="0">
                <a:solidFill>
                  <a:srgbClr val="2A2A2A"/>
                </a:solidFill>
              </a:rPr>
              <a:t> at the same label budget</a:t>
            </a:r>
            <a:r>
              <a:rPr lang="en-US" sz="1700" b="0" dirty="0">
                <a:solidFill>
                  <a:srgbClr val="2A2A2A"/>
                </a:solidFill>
              </a:rPr>
              <a:t>:</a:t>
            </a:r>
            <a:r>
              <a:rPr sz="1700" b="0" dirty="0">
                <a:solidFill>
                  <a:srgbClr val="2A2A2A"/>
                </a:solidFill>
              </a:rPr>
              <a:t> un-</a:t>
            </a:r>
            <a:r>
              <a:rPr sz="1700" b="0" dirty="0" err="1">
                <a:solidFill>
                  <a:srgbClr val="2A2A2A"/>
                </a:solidFill>
              </a:rPr>
              <a:t>prioritised</a:t>
            </a:r>
            <a:r>
              <a:rPr sz="1700" b="0" dirty="0">
                <a:solidFill>
                  <a:srgbClr val="2A2A2A"/>
                </a:solidFill>
              </a:rPr>
              <a:t> hand-curation, warm-start AL, cold-start AL</a:t>
            </a:r>
            <a:r>
              <a:rPr lang="en-US" sz="1700" b="0" dirty="0">
                <a:solidFill>
                  <a:srgbClr val="2A2A2A"/>
                </a:solidFill>
              </a:rPr>
              <a:t>,</a:t>
            </a:r>
            <a:r>
              <a:rPr sz="1700" b="0" dirty="0">
                <a:solidFill>
                  <a:srgbClr val="2A2A2A"/>
                </a:solidFill>
              </a:rPr>
              <a:t> to answer </a:t>
            </a:r>
            <a:r>
              <a:rPr sz="1700" b="1" dirty="0">
                <a:solidFill>
                  <a:srgbClr val="2A2A2A"/>
                </a:solidFill>
              </a:rPr>
              <a:t>does it matter how we collect the labels?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23560"/>
            <a:ext cx="91440" cy="457200"/>
          </a:xfrm>
          <a:prstGeom prst="rect">
            <a:avLst/>
          </a:prstGeom>
          <a:solidFill>
            <a:srgbClr val="1F2E55"/>
          </a:solidFill>
          <a:ln>
            <a:noFill/>
          </a:ln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5778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E55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105156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2A2A2A"/>
                </a:solidFill>
              </a:rPr>
              <a:t>Can a small set of human-curated pairwise rankings improve a learned MAPF classifier beyond DDG's threshold and does the strategy used to elicit those rankings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A2A2A"/>
                </a:solidFill>
              </a:rPr>
              <a:t>The auto-label is anti-aligned with humans on hard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96596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23/52 (44%) of human-marked (worst, clean) pairs have diff(worst) ≤ diff(clean)</a:t>
            </a:r>
            <a:r>
              <a:rPr lang="en-US" sz="1700" dirty="0">
                <a:solidFill>
                  <a:srgbClr val="555555"/>
                </a:solidFill>
              </a:rPr>
              <a:t>:</a:t>
            </a:r>
            <a:r>
              <a:rPr sz="1700" b="0" dirty="0">
                <a:solidFill>
                  <a:srgbClr val="555555"/>
                </a:solidFill>
              </a:rPr>
              <a:t> the auto pair points the wrong 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A2A2A"/>
                </a:solidFill>
              </a:rPr>
              <a:t>Naive integration cancels the gradient.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52044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Appending human pairs alongside the contradicting auto twins makes them point in opposite directions</a:t>
            </a:r>
            <a:r>
              <a:rPr lang="en-US" sz="1700" b="0" dirty="0">
                <a:solidFill>
                  <a:srgbClr val="555555"/>
                </a:solidFill>
              </a:rPr>
              <a:t>, nullifying.</a:t>
            </a:r>
            <a:endParaRPr sz="1700" b="0" dirty="0">
              <a:solidFill>
                <a:srgbClr val="555555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805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2A2A2A"/>
                </a:solidFill>
              </a:rPr>
              <a:t>Human time is the binding constraint.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074920"/>
            <a:ext cx="1042416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≈5 min/episode × 56 budget ≈ 5 hours of human attention. Every annotation </a:t>
            </a:r>
            <a:r>
              <a:rPr lang="en-US" sz="1700" b="0" dirty="0">
                <a:solidFill>
                  <a:srgbClr val="555555"/>
                </a:solidFill>
              </a:rPr>
              <a:t>must</a:t>
            </a:r>
            <a:r>
              <a:rPr sz="1700" b="0" dirty="0">
                <a:solidFill>
                  <a:srgbClr val="555555"/>
                </a:solidFill>
              </a:rPr>
              <a:t> </a:t>
            </a:r>
            <a:r>
              <a:rPr lang="en-US" sz="1700" b="0" dirty="0">
                <a:solidFill>
                  <a:srgbClr val="555555"/>
                </a:solidFill>
              </a:rPr>
              <a:t>count, so</a:t>
            </a:r>
            <a:r>
              <a:rPr sz="1700" b="0" dirty="0">
                <a:solidFill>
                  <a:srgbClr val="555555"/>
                </a:solidFill>
              </a:rPr>
              <a:t> selection strategy itself is part of the problem.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Key insight &amp;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669280" cy="163006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txBody>
          <a:bodyPr wrap="square" lIns="182880" tIns="137160" rIns="182880" anchor="t">
            <a:spAutoFit/>
          </a:bodyPr>
          <a:lstStyle/>
          <a:p>
            <a:pPr algn="l"/>
            <a:r>
              <a:rPr sz="1300" b="1" dirty="0">
                <a:solidFill>
                  <a:srgbClr val="C0392B"/>
                </a:solidFill>
              </a:rPr>
              <a:t>Insight 1</a:t>
            </a:r>
          </a:p>
          <a:p>
            <a:pPr>
              <a:lnSpc>
                <a:spcPct val="120000"/>
              </a:lnSpc>
            </a:pPr>
            <a:r>
              <a:rPr sz="2000" b="1" dirty="0">
                <a:solidFill>
                  <a:srgbClr val="1F2E55"/>
                </a:solidFill>
              </a:rPr>
              <a:t>Override</a:t>
            </a:r>
            <a:r>
              <a:rPr lang="en-US" sz="2000" b="1" dirty="0">
                <a:solidFill>
                  <a:srgbClr val="1F2E55"/>
                </a:solidFill>
              </a:rPr>
              <a:t> except</a:t>
            </a:r>
            <a:r>
              <a:rPr sz="2000" b="1" dirty="0">
                <a:solidFill>
                  <a:srgbClr val="1F2E55"/>
                </a:solidFill>
              </a:rPr>
              <a:t> augment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2A2A2A"/>
                </a:solidFill>
              </a:rPr>
              <a:t>For each annotated episode, replace the auto-pair list entirely with the single human pair at weight 1.0. 39 train pairs ≈ 0.15% of </a:t>
            </a:r>
            <a:r>
              <a:rPr lang="en-US" sz="1500" dirty="0">
                <a:solidFill>
                  <a:srgbClr val="2A2A2A"/>
                </a:solidFill>
              </a:rPr>
              <a:t>gradient but</a:t>
            </a:r>
            <a:r>
              <a:rPr sz="1500" dirty="0">
                <a:solidFill>
                  <a:srgbClr val="2A2A2A"/>
                </a:solidFill>
              </a:rPr>
              <a:t> placed exactly on the cases auto fits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212080" cy="163006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txBody>
          <a:bodyPr wrap="square" lIns="182880" tIns="137160" rIns="182880" anchor="t">
            <a:spAutoFit/>
          </a:bodyPr>
          <a:lstStyle/>
          <a:p>
            <a:pPr algn="l"/>
            <a:r>
              <a:rPr sz="1300" b="1" dirty="0">
                <a:solidFill>
                  <a:srgbClr val="C0392B"/>
                </a:solidFill>
              </a:rPr>
              <a:t>Insight 2</a:t>
            </a:r>
          </a:p>
          <a:p>
            <a:pPr>
              <a:lnSpc>
                <a:spcPct val="120000"/>
              </a:lnSpc>
            </a:pPr>
            <a:r>
              <a:rPr sz="2000" b="1" dirty="0">
                <a:solidFill>
                  <a:srgbClr val="1F2E55"/>
                </a:solidFill>
              </a:rPr>
              <a:t>Strategy of elicitation matters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2A2A2A"/>
                </a:solidFill>
              </a:rPr>
              <a:t>Compare un-</a:t>
            </a:r>
            <a:r>
              <a:rPr sz="1500" dirty="0" err="1">
                <a:solidFill>
                  <a:srgbClr val="2A2A2A"/>
                </a:solidFill>
              </a:rPr>
              <a:t>prioritised</a:t>
            </a:r>
            <a:r>
              <a:rPr sz="1500" dirty="0">
                <a:solidFill>
                  <a:srgbClr val="2A2A2A"/>
                </a:solidFill>
              </a:rPr>
              <a:t> hand-curation vs uncertainty × diversity active learning vs pure-diversity AL at the same label budget.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</a:rPr>
              <a:t>• Small 3D CNN over a 16-step (4-channel × T × H × W) spatial-temporal volume → scalar segment score.
• RankNet pairwise loss on auto-pairs + Option-B human overrides.
• Replay tool: humans scrub each episode end-to-end, mark worst / clean / optional borderline.
• Pool-based active query with acquisition  H( σ(s_A − s_B) ) · ‖φ_A − φ_B‖  (uncertainty × diversity).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>
                <a:solidFill>
                  <a:srgbClr val="1F2E55"/>
                </a:solidFill>
              </a:rPr>
              <a:t>Results: hand-curation lifts every gold-label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55555"/>
                </a:solidFill>
              </a:rPr>
              <a:t>On the same 13 held-out human pairs · best checkpoint per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6858000" cy="2548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Stage 1 (auto only)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Stage 2 (+39 human)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Pairwise (hp_v on 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0.615  (8/13)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0.846  (11/13)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+0.231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Exact-match (h-arg top-1)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0.538  (7/13)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0.615  (8/13)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+0.077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DDG argmax_pm1 (auto val maps)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−0.009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DDG top-3 (auto val maps)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0.578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−0.019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0392B"/>
                </a:solidFill>
              </a:rPr>
              <a:t>Walk-away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1064240" cy="1105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1" dirty="0">
                <a:solidFill>
                  <a:srgbClr val="C0392B"/>
                </a:solidFill>
              </a:rPr>
              <a:t>+3 of 13 pairs</a:t>
            </a:r>
            <a:r>
              <a:rPr sz="1800" b="0" dirty="0">
                <a:solidFill>
                  <a:srgbClr val="2A2A2A"/>
                </a:solidFill>
              </a:rPr>
              <a:t> ranked correctly · </a:t>
            </a:r>
            <a:r>
              <a:rPr sz="1800" b="1" dirty="0">
                <a:solidFill>
                  <a:srgbClr val="C0392B"/>
                </a:solidFill>
              </a:rPr>
              <a:t>+1 of 13</a:t>
            </a:r>
            <a:r>
              <a:rPr sz="1800" b="0" dirty="0">
                <a:solidFill>
                  <a:srgbClr val="2A2A2A"/>
                </a:solidFill>
              </a:rPr>
              <a:t> worst-segments identified exactly.</a:t>
            </a:r>
          </a:p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1" dirty="0">
                <a:solidFill>
                  <a:srgbClr val="2A2A2A"/>
                </a:solidFill>
              </a:rPr>
              <a:t>No measurable cost</a:t>
            </a:r>
            <a:r>
              <a:rPr sz="1800" b="0" dirty="0">
                <a:solidFill>
                  <a:srgbClr val="2A2A2A"/>
                </a:solidFill>
              </a:rPr>
              <a:t> on </a:t>
            </a:r>
            <a:r>
              <a:rPr sz="1800" b="0">
                <a:solidFill>
                  <a:srgbClr val="2A2A2A"/>
                </a:solidFill>
              </a:rPr>
              <a:t>auto-aligned ranking </a:t>
            </a:r>
            <a:r>
              <a:rPr lang="en-US" sz="1800" b="0" dirty="0">
                <a:solidFill>
                  <a:srgbClr val="2A2A2A"/>
                </a:solidFill>
              </a:rPr>
              <a:t>both DDG</a:t>
            </a:r>
            <a:r>
              <a:rPr sz="1800" b="0" dirty="0">
                <a:solidFill>
                  <a:srgbClr val="2A2A2A"/>
                </a:solidFill>
              </a:rPr>
              <a:t> metrics within 2 points.</a:t>
            </a:r>
          </a:p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0" dirty="0">
                <a:solidFill>
                  <a:srgbClr val="2A2A2A"/>
                </a:solidFill>
              </a:rPr>
              <a:t>Deployment-ready checkpoint: </a:t>
            </a:r>
            <a:r>
              <a:rPr sz="1600" b="1" dirty="0">
                <a:solidFill>
                  <a:srgbClr val="1F2E55"/>
                </a:solidFill>
              </a:rPr>
              <a:t>with_human_labels.human_argmax_top1.pt</a:t>
            </a:r>
            <a:r>
              <a:rPr sz="1800" b="0" dirty="0">
                <a:solidFill>
                  <a:srgbClr val="2A2A2A"/>
                </a:solidFill>
              </a:rPr>
              <a:t> (best across all 4 save criteria).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43D7C21-76FB-1EFC-8346-D375F0D57F5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5379938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5D5E117-B642-C392-CCE2-6B4A61C967FC}"/>
              </a:ext>
            </a:extLst>
          </p:cNvPr>
          <p:cNvSpPr txBox="1"/>
          <p:nvPr/>
        </p:nvSpPr>
        <p:spPr>
          <a:xfrm>
            <a:off x="548640" y="365760"/>
            <a:ext cx="109728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dirty="0">
                <a:solidFill>
                  <a:srgbClr val="1F2E55"/>
                </a:solidFill>
              </a:rPr>
              <a:t>Add SVGs</a:t>
            </a:r>
            <a:endParaRPr sz="3000" b="1" dirty="0">
              <a:solidFill>
                <a:srgbClr val="1F2E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2011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dirty="0">
                <a:solidFill>
                  <a:srgbClr val="1F2E55"/>
                </a:solidFill>
              </a:rPr>
              <a:t>Active-learning exte</a:t>
            </a:r>
            <a:r>
              <a:rPr lang="en-US" sz="2800" b="1" dirty="0">
                <a:solidFill>
                  <a:srgbClr val="1F2E55"/>
                </a:solidFill>
              </a:rPr>
              <a:t>nsion</a:t>
            </a:r>
            <a:endParaRPr sz="2800" b="1" dirty="0">
              <a:solidFill>
                <a:srgbClr val="1F2E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555555"/>
                </a:solidFill>
              </a:rPr>
              <a:t>Same trainer, same data, same ~56-label budget</a:t>
            </a:r>
            <a:r>
              <a:rPr lang="en-US" sz="1400" b="0" dirty="0">
                <a:solidFill>
                  <a:srgbClr val="555555"/>
                </a:solidFill>
              </a:rPr>
              <a:t>:</a:t>
            </a:r>
            <a:r>
              <a:rPr sz="1400" b="0" dirty="0">
                <a:solidFill>
                  <a:srgbClr val="555555"/>
                </a:solidFill>
              </a:rPr>
              <a:t> only the acquisition strategy differs.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02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1
(auto only)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2
(random sampling)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3
(warm-start AL)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4
(iterative AL · 4×14)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Acquisition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uniform 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uncertainty × 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uncertainty × div., 4 rounds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hp_val (val-map · 12 pairs)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0.417 (5/12)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0.417 (5/12)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0392B"/>
                          </a:solidFill>
                        </a:rPr>
                        <a:t>0.583 (7/12)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0392B"/>
                          </a:solidFill>
                        </a:rPr>
                        <a:t>0.583 (7/12)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DDG argmax_pm1 (val maps 144-147)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best round (Stage 4 only)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round 3 (pm1=0.565, hp_val=0.583)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Train labels used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56 (random)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56 (pool 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4 × 14 (iter 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Annotator hours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≈3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≈3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≈3 (split across rounds)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Distinct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≤56 (no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≤28 (cap=2)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≤28 (cap=2)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solidFill>
                  <a:srgbClr val="C0392B"/>
                </a:solidFill>
              </a:rPr>
              <a:t>Walk-aways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11064240" cy="2030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0" dirty="0">
                <a:solidFill>
                  <a:srgbClr val="2A2A2A"/>
                </a:solidFill>
              </a:rPr>
              <a:t>Random sampling at fixed budget gives </a:t>
            </a:r>
            <a:r>
              <a:rPr sz="1400" b="1" dirty="0">
                <a:solidFill>
                  <a:srgbClr val="C0392B"/>
                </a:solidFill>
              </a:rPr>
              <a:t>zero lift</a:t>
            </a:r>
            <a:r>
              <a:rPr sz="1400" b="0" dirty="0">
                <a:solidFill>
                  <a:srgbClr val="2A2A2A"/>
                </a:solidFill>
              </a:rPr>
              <a:t> over auto-only on </a:t>
            </a:r>
            <a:r>
              <a:rPr sz="1400" b="0" dirty="0" err="1">
                <a:solidFill>
                  <a:srgbClr val="2A2A2A"/>
                </a:solidFill>
              </a:rPr>
              <a:t>hp_val</a:t>
            </a:r>
            <a:r>
              <a:rPr sz="1400" b="0" dirty="0">
                <a:solidFill>
                  <a:srgbClr val="2A2A2A"/>
                </a:solidFill>
              </a:rPr>
              <a:t> (Stage 2 = Stage 1 = 0.417). Just adding human labels without selection priority is not enough.</a:t>
            </a:r>
            <a:endParaRPr sz="1500" b="0" dirty="0">
              <a:solidFill>
                <a:srgbClr val="2A2A2A"/>
              </a:solidFill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0" dirty="0">
                <a:solidFill>
                  <a:srgbClr val="2A2A2A"/>
                </a:solidFill>
              </a:rPr>
              <a:t>AL with uncertainty × diversity selection: </a:t>
            </a:r>
            <a:r>
              <a:rPr sz="1400" b="1" dirty="0">
                <a:solidFill>
                  <a:srgbClr val="C0392B"/>
                </a:solidFill>
              </a:rPr>
              <a:t>+17 pp on </a:t>
            </a:r>
            <a:r>
              <a:rPr sz="1400" b="1" dirty="0" err="1">
                <a:solidFill>
                  <a:srgbClr val="C0392B"/>
                </a:solidFill>
              </a:rPr>
              <a:t>hp_val</a:t>
            </a:r>
            <a:r>
              <a:rPr sz="1400" b="0" dirty="0">
                <a:solidFill>
                  <a:srgbClr val="2A2A2A"/>
                </a:solidFill>
              </a:rPr>
              <a:t> over random (5/12 → 7/12) at the same 56-label budget. Selection strategy matters more than label volume.</a:t>
            </a:r>
          </a:p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1" dirty="0">
                <a:solidFill>
                  <a:srgbClr val="2A2A2A"/>
                </a:solidFill>
              </a:rPr>
              <a:t>Iterative AL ≈ single-shot AL</a:t>
            </a:r>
            <a:r>
              <a:rPr sz="1400" b="0" dirty="0">
                <a:solidFill>
                  <a:srgbClr val="2A2A2A"/>
                </a:solidFill>
              </a:rPr>
              <a:t> at this budget. 4 rounds of 14 labels with model retrained between matches one batch of 56. Engineering the loop did not pay off here.</a:t>
            </a:r>
          </a:p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0" dirty="0">
                <a:solidFill>
                  <a:srgbClr val="2A2A2A"/>
                </a:solidFill>
              </a:rPr>
              <a:t>DDG-aligned ranking </a:t>
            </a:r>
            <a:r>
              <a:rPr sz="1400" b="1" dirty="0">
                <a:solidFill>
                  <a:srgbClr val="2A2A2A"/>
                </a:solidFill>
                <a:highlight>
                  <a:srgbClr val="FFFBCC"/>
                </a:highlight>
              </a:rPr>
              <a:t>preserved</a:t>
            </a:r>
            <a:r>
              <a:rPr sz="1400" b="0" dirty="0">
                <a:solidFill>
                  <a:srgbClr val="2A2A2A"/>
                </a:solidFill>
              </a:rPr>
              <a:t> across all four stages: argmax_pm1 ∈ [0.541, 0.565].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7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dirty="0">
                <a:solidFill>
                  <a:srgbClr val="1F2E55"/>
                </a:solidFill>
              </a:rPr>
              <a:t>Conclusion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</a:rPr>
              <a:t>Walk-aways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11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39 human pairs (≈0.15% of gradient) → </a:t>
            </a:r>
            <a:r>
              <a:rPr sz="1900" b="1" dirty="0">
                <a:solidFill>
                  <a:srgbClr val="C0392B"/>
                </a:solidFill>
              </a:rPr>
              <a:t>+23 pp pairwise / +8 pp exact-match</a:t>
            </a:r>
            <a:r>
              <a:rPr sz="1900" b="0" dirty="0">
                <a:solidFill>
                  <a:srgbClr val="2A2A2A"/>
                </a:solidFill>
              </a:rPr>
              <a:t> human alignment, no DDG cost.</a:t>
            </a:r>
          </a:p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The </a:t>
            </a:r>
            <a:r>
              <a:rPr sz="1900" b="1" dirty="0">
                <a:solidFill>
                  <a:srgbClr val="2A2A2A"/>
                </a:solidFill>
              </a:rPr>
              <a:t>save-best criterion</a:t>
            </a:r>
            <a:r>
              <a:rPr sz="1900" b="0" dirty="0">
                <a:solidFill>
                  <a:srgbClr val="2A2A2A"/>
                </a:solidFill>
              </a:rPr>
              <a:t> is itself a deployment choice</a:t>
            </a:r>
            <a:r>
              <a:rPr lang="en-US" sz="1900" b="0" dirty="0">
                <a:solidFill>
                  <a:srgbClr val="2A2A2A"/>
                </a:solidFill>
              </a:rPr>
              <a:t>:</a:t>
            </a:r>
            <a:r>
              <a:rPr sz="1900" b="0" dirty="0">
                <a:solidFill>
                  <a:srgbClr val="2A2A2A"/>
                </a:solidFill>
              </a:rPr>
              <a:t> 4 saved checkpoints differ by 31 pp on top-1 metric.</a:t>
            </a:r>
          </a:p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The </a:t>
            </a:r>
            <a:r>
              <a:rPr sz="1900" b="1" dirty="0">
                <a:solidFill>
                  <a:srgbClr val="2A2A2A"/>
                </a:solidFill>
              </a:rPr>
              <a:t>acquisition-strategy comparison</a:t>
            </a:r>
            <a:r>
              <a:rPr sz="1900" b="0" dirty="0">
                <a:solidFill>
                  <a:srgbClr val="2A2A2A"/>
                </a:solidFill>
              </a:rPr>
              <a:t> (Stages 1–4 at fixed budget) is the contribution that adds depth.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</a:rPr>
              <a:t>Honest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64240" cy="1703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Run-to-run variance is large: </a:t>
            </a:r>
            <a:r>
              <a:rPr sz="1700" dirty="0" err="1">
                <a:solidFill>
                  <a:srgbClr val="555555"/>
                </a:solidFill>
              </a:rPr>
              <a:t>hp_val</a:t>
            </a:r>
            <a:r>
              <a:rPr sz="1700" dirty="0">
                <a:solidFill>
                  <a:srgbClr val="555555"/>
                </a:solidFill>
              </a:rPr>
              <a:t> swung 0.615 ↔ 0.846 across two reseeds. Multi-seed averaging is the obvious follow-up.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Stages 3 &amp; 4 single-seed at submission time.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No downstream MAPF-GPT impact study yet</a:t>
            </a:r>
            <a:r>
              <a:rPr lang="en-US" sz="1700" dirty="0">
                <a:solidFill>
                  <a:srgbClr val="555555"/>
                </a:solidFill>
              </a:rPr>
              <a:t>:</a:t>
            </a:r>
            <a:r>
              <a:rPr sz="1700" dirty="0">
                <a:solidFill>
                  <a:srgbClr val="555555"/>
                </a:solidFill>
              </a:rPr>
              <a:t> does using this classifier in DDG </a:t>
            </a:r>
            <a:r>
              <a:rPr lang="en-US" sz="1700" dirty="0">
                <a:solidFill>
                  <a:srgbClr val="555555"/>
                </a:solidFill>
              </a:rPr>
              <a:t>train</a:t>
            </a:r>
            <a:r>
              <a:rPr sz="1700" dirty="0">
                <a:solidFill>
                  <a:srgbClr val="555555"/>
                </a:solidFill>
              </a:rPr>
              <a:t> a better policy on POGEMA? The most consequential open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8 /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18F0E8-A2B4-662E-C154-CFC770DF08C9}"/>
              </a:ext>
            </a:extLst>
          </p:cNvPr>
          <p:cNvSpPr txBox="1"/>
          <p:nvPr/>
        </p:nvSpPr>
        <p:spPr>
          <a:xfrm>
            <a:off x="548640" y="2832518"/>
            <a:ext cx="1097280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4400" b="1" dirty="0">
                <a:solidFill>
                  <a:srgbClr val="1F2E55"/>
                </a:solidFill>
              </a:rPr>
              <a:t>Thank you! </a:t>
            </a:r>
            <a:endParaRPr sz="4400" b="1" dirty="0">
              <a:solidFill>
                <a:srgbClr val="1F2E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20175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1700</Words>
  <Application>Microsoft Macintosh PowerPoint</Application>
  <PresentationFormat>Widescreen</PresentationFormat>
  <Paragraphs>163</Paragraphs>
  <Slides>10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Sparsh Bansal</cp:lastModifiedBy>
  <cp:revision>38</cp:revision>
  <dcterms:created xsi:type="dcterms:W3CDTF">2013-01-27T09:14:16Z</dcterms:created>
  <dcterms:modified xsi:type="dcterms:W3CDTF">2026-05-03T05:29:01Z</dcterms:modified>
  <cp:category/>
</cp:coreProperties>
</file>