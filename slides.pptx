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8" r:id="rId8"/>
    <p:sldId id="262" r:id="rId9"/>
    <p:sldId id="263" r:id="rId10"/>
    <p:sldId id="267" r:id="rId11"/>
    <p:sldId id="261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33"/>
    <p:restoredTop sz="92664"/>
  </p:normalViewPr>
  <p:slideViewPr>
    <p:cSldViewPr snapToGrid="0" snapToObjects="1">
      <p:cViewPr varScale="1">
        <p:scale>
          <a:sx n="138" d="100"/>
          <a:sy n="138" d="100"/>
        </p:scale>
        <p:origin x="56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0998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[ALL] Brief intros (Sparsh, Shane, Isabel) — keep under 10 seconds. Then hand to Sparsh.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[Sparsh, ~30s] Open with the warehouse / delivery framing. Make the HRI angle explicit — currently zero humans in the loop. End by motivating why human judgement could plausibly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[Sparsh, ~35s] This is the load-bearing motivation slide. Walk down the four rows: each prior approach has a clear limit, and our work explicitly targets DDG's gap. Pause on row 3 (44% threshold-wrong number — already lands as a punchline). Then read the 'what we add' bullets — these set up the rest of the talk. End with the RQ verbatim. The audience should walk out of THIS slide knowing what we built and why it's a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[Shane, ~30s] Three open challenges. The 44% number is the empirical hook — say it slowly. Frame challenge 3 as motivating the AL extension we discuss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[Shane, ~35s] Two boxed insights side-by-side. Linger on 'override, don't augment' — this is the one technical idea the whole project hangs on. The acquisition formula doesn't need to be read aloud; the audience just needs to register that there 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[Isabel, ~35s] This is the slide that frames our depth contribution. Walk down the columns — Stages 3 and 4 share the same 56-label budget as Stage 2 and only the acquisition rule differs. Stages 3 &amp; 4 are still being collected, but the framework itself is the contribution: any ordering of the [PENDING] cells answers a substantive AL-design question. Once we have the numbers, we can update this single slide in PowerPoint and the whole story crystallises.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[Isabel, ~25s] Three walk-aways, three honest limitations. Don't oversell — the audience respects the variance disclosure. Land softly to invite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[Isabel, ~45s] Lead with the top two table rows — those are the headline. Then point at the figure: same data, different views. End on the walk-away: NO auto cost. That sells the override-don't-augment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363F8E93-E55D-150F-F1E2-064F15495EEA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409925553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7772400" imgH="10058400" progId="TCLayout.ActiveDocument.1">
                  <p:embed/>
                </p:oleObj>
              </mc:Choice>
              <mc:Fallback>
                <p:oleObj name="think-cell Slide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4" Type="http://schemas.openxmlformats.org/officeDocument/2006/relationships/image" Target="../media/image2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video" Target="../media/media1.mp4"/><Relationship Id="rId7" Type="http://schemas.openxmlformats.org/officeDocument/2006/relationships/image" Target="../media/image3.png"/><Relationship Id="rId2" Type="http://schemas.microsoft.com/office/2007/relationships/media" Target="../media/media1.mp4"/><Relationship Id="rId1" Type="http://schemas.openxmlformats.org/officeDocument/2006/relationships/tags" Target="../tags/tag3.x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28800"/>
            <a:ext cx="11064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1F2E55"/>
                </a:solidFill>
              </a:rPr>
              <a:t>Human-in-the-Loop Congestion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1F2E55"/>
                </a:solidFill>
              </a:rPr>
              <a:t>for Multi-Agent Pathfinding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555555"/>
                </a:solidFill>
              </a:rPr>
              <a:t>Replacing DDG's hand-tuned threshold with learned, human-aligned segment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A2A2A"/>
                </a:solidFill>
              </a:rPr>
              <a:t>Shane Pornprinya  ·  Isabel De Luis  ·  Sparsh Bansal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94960"/>
            <a:ext cx="110642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0" dirty="0">
                <a:solidFill>
                  <a:srgbClr val="555555"/>
                </a:solidFill>
              </a:rPr>
              <a:t>Algorithmic </a:t>
            </a:r>
            <a:r>
              <a:rPr sz="1600" b="0" dirty="0">
                <a:solidFill>
                  <a:srgbClr val="555555"/>
                </a:solidFill>
              </a:rPr>
              <a:t>Human-Robot Interaction  · 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F2E55"/>
                </a:solidFill>
              </a:rPr>
              <a:t>Motivation: where MAPF policies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2756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Multi-agent pathfinding (MAPF) coordinates teams of robots in shared spaces</a:t>
            </a:r>
            <a:r>
              <a:rPr lang="en-US" sz="2000" b="0" dirty="0">
                <a:solidFill>
                  <a:srgbClr val="2A2A2A"/>
                </a:solidFill>
              </a:rPr>
              <a:t>:</a:t>
            </a:r>
            <a:r>
              <a:rPr sz="2000" b="0" dirty="0">
                <a:solidFill>
                  <a:srgbClr val="2A2A2A"/>
                </a:solidFill>
              </a:rPr>
              <a:t> </a:t>
            </a:r>
            <a:r>
              <a:rPr sz="2000" b="1" dirty="0">
                <a:solidFill>
                  <a:srgbClr val="2A2A2A"/>
                </a:solidFill>
              </a:rPr>
              <a:t>warehouses, delivery, search-and-rescue</a:t>
            </a:r>
          </a:p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State-of-the-art: </a:t>
            </a:r>
            <a:r>
              <a:rPr sz="2000" b="1" dirty="0">
                <a:solidFill>
                  <a:srgbClr val="1F2E55"/>
                </a:solidFill>
              </a:rPr>
              <a:t>MAPF-GPT</a:t>
            </a:r>
            <a:r>
              <a:rPr sz="2000" b="0" dirty="0">
                <a:solidFill>
                  <a:srgbClr val="2A2A2A"/>
                </a:solidFill>
              </a:rPr>
              <a:t>, a transformer policy imitation-trained on solver demos.</a:t>
            </a:r>
          </a:p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Failure mode: </a:t>
            </a:r>
            <a:r>
              <a:rPr sz="2000" b="1" dirty="0">
                <a:solidFill>
                  <a:srgbClr val="2A2A2A"/>
                </a:solidFill>
              </a:rPr>
              <a:t>congestion</a:t>
            </a:r>
            <a:r>
              <a:rPr sz="2000" b="0" dirty="0">
                <a:solidFill>
                  <a:srgbClr val="2A2A2A"/>
                </a:solidFill>
              </a:rPr>
              <a:t> </a:t>
            </a:r>
            <a:r>
              <a:rPr lang="en-US" sz="2000" b="0" dirty="0">
                <a:solidFill>
                  <a:srgbClr val="2A2A2A"/>
                </a:solidFill>
              </a:rPr>
              <a:t>due to no global view as</a:t>
            </a:r>
            <a:r>
              <a:rPr sz="2000" b="0" dirty="0">
                <a:solidFill>
                  <a:srgbClr val="2A2A2A"/>
                </a:solidFill>
              </a:rPr>
              <a:t> agents bunched at corridor pinch-points, deadlocks, swap conflicts.</a:t>
            </a:r>
          </a:p>
          <a:p>
            <a:pPr>
              <a:lnSpc>
                <a:spcPct val="125000"/>
              </a:lnSpc>
            </a:pPr>
            <a:r>
              <a:rPr sz="2000" dirty="0">
                <a:solidFill>
                  <a:srgbClr val="2A2A2A"/>
                </a:solidFill>
              </a:rPr>
              <a:t>• </a:t>
            </a:r>
            <a:r>
              <a:rPr sz="2000" b="0" dirty="0">
                <a:solidFill>
                  <a:srgbClr val="2A2A2A"/>
                </a:solidFill>
              </a:rPr>
              <a:t>The HRI question: </a:t>
            </a:r>
            <a:r>
              <a:rPr sz="2000" b="1" dirty="0">
                <a:solidFill>
                  <a:srgbClr val="2A2A2A"/>
                </a:solidFill>
              </a:rPr>
              <a:t>currently there is no human in this loop.</a:t>
            </a:r>
            <a:r>
              <a:rPr sz="2000" b="0" dirty="0">
                <a:solidFill>
                  <a:srgbClr val="2A2A2A"/>
                </a:solidFill>
              </a:rPr>
              <a:t> The policy trains on solver demos and is refined by a hand-tuned threshold. </a:t>
            </a:r>
            <a:r>
              <a:rPr lang="en-US" sz="2000" b="0" dirty="0">
                <a:solidFill>
                  <a:srgbClr val="2A2A2A"/>
                </a:solidFill>
              </a:rPr>
              <a:t>Could</a:t>
            </a:r>
            <a:r>
              <a:rPr sz="2000" b="0" dirty="0">
                <a:solidFill>
                  <a:srgbClr val="2A2A2A"/>
                </a:solidFill>
              </a:rPr>
              <a:t> human judgement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800" b="1" dirty="0">
                <a:solidFill>
                  <a:srgbClr val="1F2E55"/>
                </a:solidFill>
              </a:rPr>
              <a:t>Prior work and</a:t>
            </a:r>
            <a:r>
              <a:rPr sz="2800" b="1" dirty="0">
                <a:solidFill>
                  <a:srgbClr val="1F2E55"/>
                </a:solidFill>
              </a:rPr>
              <a:t> </a:t>
            </a:r>
            <a:r>
              <a:rPr lang="en-US" sz="2800" b="1" dirty="0">
                <a:solidFill>
                  <a:srgbClr val="1F2E55"/>
                </a:solidFill>
              </a:rPr>
              <a:t>our contribution</a:t>
            </a:r>
            <a:endParaRPr sz="2800" b="1" dirty="0">
              <a:solidFill>
                <a:srgbClr val="1F2E55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Each prior approach leaves a gap that motivates the next.  Our work targets the gap left by DDG.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880902"/>
              </p:ext>
            </p:extLst>
          </p:nvPr>
        </p:nvGraphicFramePr>
        <p:xfrm>
          <a:off x="548640" y="155448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8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51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6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278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E55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E55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E55"/>
                          </a:solidFill>
                        </a:rPr>
                        <a:t>Human in loop?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dirty="0">
                          <a:solidFill>
                            <a:srgbClr val="1F2E55"/>
                          </a:solidFill>
                        </a:rPr>
                        <a:t>Limit</a:t>
                      </a:r>
                      <a:r>
                        <a:rPr lang="en-US" sz="1300" b="1" dirty="0">
                          <a:solidFill>
                            <a:srgbClr val="1F2E55"/>
                          </a:solidFill>
                        </a:rPr>
                        <a:t>ations</a:t>
                      </a:r>
                      <a:endParaRPr sz="1300" b="1" dirty="0">
                        <a:solidFill>
                          <a:srgbClr val="1F2E55"/>
                        </a:solidFill>
                      </a:endParaRPr>
                    </a:p>
                  </a:txBody>
                  <a:tcPr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MAPF-GPT  [Andreychuk '24]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Imitation-learn a transformer from offline LaCAM demos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Long-tail congested cases under-represented in demos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DAgger  [Ross '11]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Iteratively roll the policy, expert-relabel every visited state, retrain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No (expert = solver)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Uniform expert calls per state</a:t>
                      </a:r>
                      <a:r>
                        <a:rPr lang="en-US" sz="1200" dirty="0">
                          <a:solidFill>
                            <a:srgbClr val="2A2A2A"/>
                          </a:solidFill>
                        </a:rPr>
                        <a:t>, making it</a:t>
                      </a:r>
                      <a:r>
                        <a:rPr sz="1200" dirty="0">
                          <a:solidFill>
                            <a:srgbClr val="2A2A2A"/>
                          </a:solidFill>
                        </a:rPr>
                        <a:t> expensive at scale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Original DDG  [Andreychuk '25]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Threshold-gated DAgger: invoke expert only when max_diff &gt;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A2A2A"/>
                          </a:solidFill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Threshold wrong on 44% of borderline cases; midrange discarded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★  Our work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Learned classifier + human override + acquisition-strategy comparison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A2A2A"/>
                          </a:solidFill>
                        </a:rPr>
                        <a:t>Yes (replay tool)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2A2A2A"/>
                          </a:solidFill>
                        </a:rPr>
                        <a:t>Cost of human data generation/labeling; </a:t>
                      </a:r>
                      <a:endParaRPr sz="1200" dirty="0">
                        <a:solidFill>
                          <a:srgbClr val="2A2A2A"/>
                        </a:solidFill>
                      </a:endParaRP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419856"/>
            <a:ext cx="146304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</a:rPr>
              <a:t>What we add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11064240" cy="10491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dirty="0">
                <a:solidFill>
                  <a:srgbClr val="2A2A2A"/>
                </a:solidFill>
              </a:rPr>
              <a:t>• </a:t>
            </a:r>
            <a:r>
              <a:rPr sz="1700" b="0" dirty="0">
                <a:solidFill>
                  <a:srgbClr val="2A2A2A"/>
                </a:solidFill>
              </a:rPr>
              <a:t>Replace DDG's hand-tuned threshold with a </a:t>
            </a:r>
            <a:r>
              <a:rPr sz="1700" b="1" dirty="0">
                <a:solidFill>
                  <a:srgbClr val="1F2E55"/>
                </a:solidFill>
              </a:rPr>
              <a:t>learned segment-ranking classifier</a:t>
            </a:r>
            <a:r>
              <a:rPr sz="1700" b="0" dirty="0">
                <a:solidFill>
                  <a:srgbClr val="2A2A2A"/>
                </a:solidFill>
              </a:rPr>
              <a:t> trained with human pairwise </a:t>
            </a:r>
            <a:r>
              <a:rPr lang="en-US" sz="1700" b="0" dirty="0">
                <a:solidFill>
                  <a:srgbClr val="2A2A2A"/>
                </a:solidFill>
              </a:rPr>
              <a:t>labels</a:t>
            </a:r>
            <a:r>
              <a:rPr sz="1700" b="0" dirty="0">
                <a:solidFill>
                  <a:srgbClr val="2A2A2A"/>
                </a:solidFill>
              </a:rPr>
              <a:t>.</a:t>
            </a:r>
          </a:p>
          <a:p>
            <a:pPr>
              <a:lnSpc>
                <a:spcPct val="125000"/>
              </a:lnSpc>
            </a:pPr>
            <a:r>
              <a:rPr sz="1700" dirty="0">
                <a:solidFill>
                  <a:srgbClr val="2A2A2A"/>
                </a:solidFill>
              </a:rPr>
              <a:t>• </a:t>
            </a:r>
            <a:r>
              <a:rPr sz="1700" b="0" dirty="0">
                <a:solidFill>
                  <a:srgbClr val="2A2A2A"/>
                </a:solidFill>
              </a:rPr>
              <a:t>Compare </a:t>
            </a:r>
            <a:r>
              <a:rPr sz="1700" b="1" dirty="0">
                <a:solidFill>
                  <a:srgbClr val="2A2A2A"/>
                </a:solidFill>
              </a:rPr>
              <a:t>four annotation-acquisition strategies</a:t>
            </a:r>
            <a:r>
              <a:rPr sz="1700" b="0" dirty="0">
                <a:solidFill>
                  <a:srgbClr val="2A2A2A"/>
                </a:solidFill>
              </a:rPr>
              <a:t> at the same label budget</a:t>
            </a:r>
            <a:r>
              <a:rPr lang="en-US" sz="1700" b="0" dirty="0">
                <a:solidFill>
                  <a:srgbClr val="2A2A2A"/>
                </a:solidFill>
              </a:rPr>
              <a:t>:</a:t>
            </a:r>
            <a:r>
              <a:rPr sz="1700" b="0" dirty="0">
                <a:solidFill>
                  <a:srgbClr val="2A2A2A"/>
                </a:solidFill>
              </a:rPr>
              <a:t> </a:t>
            </a:r>
            <a:r>
              <a:rPr lang="en-US" sz="1700" b="0" dirty="0">
                <a:solidFill>
                  <a:srgbClr val="2A2A2A"/>
                </a:solidFill>
              </a:rPr>
              <a:t>random</a:t>
            </a:r>
            <a:r>
              <a:rPr sz="1700" b="0" dirty="0">
                <a:solidFill>
                  <a:srgbClr val="2A2A2A"/>
                </a:solidFill>
              </a:rPr>
              <a:t> </a:t>
            </a:r>
            <a:r>
              <a:rPr lang="en-US" sz="1700" b="0" dirty="0">
                <a:solidFill>
                  <a:srgbClr val="2A2A2A"/>
                </a:solidFill>
              </a:rPr>
              <a:t>human elicitation</a:t>
            </a:r>
            <a:r>
              <a:rPr sz="1700" b="0" dirty="0">
                <a:solidFill>
                  <a:srgbClr val="2A2A2A"/>
                </a:solidFill>
              </a:rPr>
              <a:t>, warm-start </a:t>
            </a:r>
            <a:r>
              <a:rPr lang="en-US" sz="1700" b="0" dirty="0">
                <a:solidFill>
                  <a:srgbClr val="2A2A2A"/>
                </a:solidFill>
              </a:rPr>
              <a:t>iterative </a:t>
            </a:r>
            <a:r>
              <a:rPr sz="1700" b="0" dirty="0">
                <a:solidFill>
                  <a:srgbClr val="2A2A2A"/>
                </a:solidFill>
              </a:rPr>
              <a:t>A</a:t>
            </a:r>
            <a:r>
              <a:rPr lang="en-US" sz="1700" b="0" dirty="0">
                <a:solidFill>
                  <a:srgbClr val="2A2A2A"/>
                </a:solidFill>
              </a:rPr>
              <a:t>ctive </a:t>
            </a:r>
            <a:r>
              <a:rPr sz="1700" b="0" dirty="0">
                <a:solidFill>
                  <a:srgbClr val="2A2A2A"/>
                </a:solidFill>
              </a:rPr>
              <a:t>L</a:t>
            </a:r>
            <a:r>
              <a:rPr lang="en-US" sz="1700" b="0" dirty="0">
                <a:solidFill>
                  <a:srgbClr val="2A2A2A"/>
                </a:solidFill>
              </a:rPr>
              <a:t>earning,</a:t>
            </a:r>
            <a:r>
              <a:rPr sz="1700" b="0" dirty="0">
                <a:solidFill>
                  <a:srgbClr val="2A2A2A"/>
                </a:solidFill>
              </a:rPr>
              <a:t> to answer </a:t>
            </a:r>
            <a:r>
              <a:rPr sz="1700" b="1" dirty="0">
                <a:solidFill>
                  <a:srgbClr val="2A2A2A"/>
                </a:solidFill>
                <a:highlight>
                  <a:srgbClr val="FF0000"/>
                </a:highlight>
              </a:rPr>
              <a:t>does it matter how we collect </a:t>
            </a:r>
            <a:r>
              <a:rPr lang="en-US" sz="1700" b="1" dirty="0">
                <a:solidFill>
                  <a:srgbClr val="2A2A2A"/>
                </a:solidFill>
                <a:highlight>
                  <a:srgbClr val="FF0000"/>
                </a:highlight>
              </a:rPr>
              <a:t>human input</a:t>
            </a:r>
            <a:r>
              <a:rPr sz="1700" b="1" dirty="0">
                <a:solidFill>
                  <a:srgbClr val="2A2A2A"/>
                </a:solidFill>
                <a:highlight>
                  <a:srgbClr val="FF0000"/>
                </a:highlight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23560"/>
            <a:ext cx="91440" cy="457200"/>
          </a:xfrm>
          <a:prstGeom prst="rect">
            <a:avLst/>
          </a:prstGeom>
          <a:solidFill>
            <a:srgbClr val="1F2E55"/>
          </a:solidFill>
          <a:ln>
            <a:noFill/>
          </a:ln>
        </p:spPr>
        <p:txBody>
          <a:bodyPr wrap="square" anchor="t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5778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F2E55"/>
                </a:solidFill>
              </a:rP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06440"/>
            <a:ext cx="1051560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2A2A2A"/>
                </a:solidFill>
              </a:rPr>
              <a:t>Can a small set of human-curated pairwise rankings improve </a:t>
            </a:r>
            <a:r>
              <a:rPr lang="en-US" sz="1500" dirty="0">
                <a:solidFill>
                  <a:srgbClr val="2A2A2A"/>
                </a:solidFill>
              </a:rPr>
              <a:t>training performance of </a:t>
            </a:r>
            <a:r>
              <a:rPr sz="1500" b="0" dirty="0">
                <a:solidFill>
                  <a:srgbClr val="2A2A2A"/>
                </a:solidFill>
              </a:rPr>
              <a:t>a MAPF</a:t>
            </a:r>
            <a:r>
              <a:rPr lang="en-US" sz="1500" dirty="0">
                <a:solidFill>
                  <a:srgbClr val="2A2A2A"/>
                </a:solidFill>
              </a:rPr>
              <a:t>-GPT</a:t>
            </a:r>
            <a:r>
              <a:rPr sz="1500" b="0" dirty="0">
                <a:solidFill>
                  <a:srgbClr val="2A2A2A"/>
                </a:solidFill>
              </a:rPr>
              <a:t> classifier beyond DDG's threshold </a:t>
            </a:r>
            <a:r>
              <a:rPr lang="en-US" sz="1500" b="0" dirty="0">
                <a:solidFill>
                  <a:srgbClr val="2A2A2A"/>
                </a:solidFill>
              </a:rPr>
              <a:t>by selecting better states with fewer training epochs (than 30,000) </a:t>
            </a:r>
            <a:r>
              <a:rPr sz="1500" b="0" dirty="0">
                <a:solidFill>
                  <a:srgbClr val="2A2A2A"/>
                </a:solidFill>
              </a:rPr>
              <a:t>and does the strategy used to elicit those rankings matter?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F2E55"/>
                </a:solidFill>
              </a:rPr>
              <a:t>Why it's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C0392B"/>
                </a:solidFill>
              </a:rPr>
              <a:t>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37160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dirty="0">
                <a:solidFill>
                  <a:srgbClr val="2A2A2A"/>
                </a:solidFill>
              </a:rPr>
              <a:t>The auto-label is anti-aligned with humans on hard cases.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965960"/>
            <a:ext cx="10424160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>
                <a:solidFill>
                  <a:srgbClr val="555555"/>
                </a:solidFill>
                <a:highlight>
                  <a:srgbClr val="FF0000"/>
                </a:highlight>
              </a:rPr>
              <a:t>23/52 (44%) </a:t>
            </a:r>
            <a:r>
              <a:rPr sz="1700" b="0" dirty="0">
                <a:solidFill>
                  <a:srgbClr val="555555"/>
                </a:solidFill>
              </a:rPr>
              <a:t>of human-marked (worst, clean) pairs have diff(worst) ≤ diff(clean)</a:t>
            </a:r>
            <a:r>
              <a:rPr lang="en-US" sz="1700" dirty="0">
                <a:solidFill>
                  <a:srgbClr val="555555"/>
                </a:solidFill>
              </a:rPr>
              <a:t>:</a:t>
            </a:r>
            <a:r>
              <a:rPr sz="1700" b="0" dirty="0">
                <a:solidFill>
                  <a:srgbClr val="555555"/>
                </a:solidFill>
              </a:rPr>
              <a:t> the auto pair points the wrong 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dirty="0">
                <a:solidFill>
                  <a:srgbClr val="C0392B"/>
                </a:solidFill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26080"/>
            <a:ext cx="1042416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200" b="1" dirty="0">
                <a:solidFill>
                  <a:srgbClr val="2A2A2A"/>
                </a:solidFill>
              </a:rPr>
              <a:t>How do we elicit the hard cases.</a:t>
            </a:r>
            <a:endParaRPr sz="2200" b="1" dirty="0">
              <a:solidFill>
                <a:srgbClr val="2A2A2A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3520440"/>
            <a:ext cx="10424160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700" b="0" dirty="0">
                <a:solidFill>
                  <a:srgbClr val="555555"/>
                </a:solidFill>
              </a:rPr>
              <a:t>Defining the features that can classify high versus low </a:t>
            </a:r>
            <a:r>
              <a:rPr lang="en-US" sz="1700" b="0" dirty="0">
                <a:solidFill>
                  <a:srgbClr val="555555"/>
                </a:solidFill>
                <a:highlight>
                  <a:srgbClr val="FF0000"/>
                </a:highlight>
              </a:rPr>
              <a:t>entropy [TODO]</a:t>
            </a:r>
            <a:endParaRPr sz="1700" b="0" dirty="0">
              <a:solidFill>
                <a:srgbClr val="555555"/>
              </a:solidFill>
              <a:highlight>
                <a:srgbClr val="FF0000"/>
              </a:highlight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448056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dirty="0">
                <a:solidFill>
                  <a:srgbClr val="C0392B"/>
                </a:solidFill>
              </a:rP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8056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dirty="0">
                <a:solidFill>
                  <a:srgbClr val="2A2A2A"/>
                </a:solidFill>
              </a:rPr>
              <a:t>Human time is the binding constraint.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074920"/>
            <a:ext cx="10424160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>
                <a:solidFill>
                  <a:srgbClr val="555555"/>
                </a:solidFill>
              </a:rPr>
              <a:t>≈5 min/episode × 56 budget ≈ 5 hours of human attention. </a:t>
            </a:r>
            <a:r>
              <a:rPr lang="en-US" sz="1700" b="0" dirty="0">
                <a:solidFill>
                  <a:srgbClr val="555555"/>
                </a:solidFill>
              </a:rPr>
              <a:t>What kind of question to ask?</a:t>
            </a:r>
            <a:endParaRPr sz="1700" b="0" dirty="0">
              <a:solidFill>
                <a:srgbClr val="555555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1F2E55"/>
                </a:solidFill>
              </a:rPr>
              <a:t>Key insight &amp;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669280" cy="163006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txBody>
          <a:bodyPr wrap="square" lIns="182880" tIns="137160" rIns="182880" anchor="t">
            <a:spAutoFit/>
          </a:bodyPr>
          <a:lstStyle/>
          <a:p>
            <a:pPr algn="l"/>
            <a:r>
              <a:rPr sz="1300" b="1" dirty="0">
                <a:solidFill>
                  <a:srgbClr val="C0392B"/>
                </a:solidFill>
              </a:rPr>
              <a:t>Insight 1</a:t>
            </a:r>
          </a:p>
          <a:p>
            <a:pPr>
              <a:lnSpc>
                <a:spcPct val="120000"/>
              </a:lnSpc>
            </a:pPr>
            <a:r>
              <a:rPr sz="2000" b="1" dirty="0">
                <a:solidFill>
                  <a:srgbClr val="1F2E55"/>
                </a:solidFill>
              </a:rPr>
              <a:t>Override</a:t>
            </a:r>
            <a:r>
              <a:rPr lang="en-US" sz="2000" b="1" dirty="0">
                <a:solidFill>
                  <a:srgbClr val="1F2E55"/>
                </a:solidFill>
              </a:rPr>
              <a:t> not</a:t>
            </a:r>
            <a:r>
              <a:rPr sz="2000" b="1" dirty="0">
                <a:solidFill>
                  <a:srgbClr val="1F2E55"/>
                </a:solidFill>
              </a:rPr>
              <a:t> augment</a:t>
            </a:r>
          </a:p>
          <a:p>
            <a:pPr>
              <a:lnSpc>
                <a:spcPct val="130000"/>
              </a:lnSpc>
            </a:pPr>
            <a:r>
              <a:rPr sz="1500" dirty="0">
                <a:solidFill>
                  <a:srgbClr val="2A2A2A"/>
                </a:solidFill>
              </a:rPr>
              <a:t>For each annotated episode, replace the auto-pair list entirely with the single human pair at weight 1.0. </a:t>
            </a:r>
            <a:r>
              <a:rPr lang="en-US" sz="1500" dirty="0">
                <a:solidFill>
                  <a:srgbClr val="2A2A2A"/>
                </a:solidFill>
                <a:highlight>
                  <a:srgbClr val="FF0000"/>
                </a:highlight>
              </a:rPr>
              <a:t>39 train pairs ≈ 0.15% </a:t>
            </a:r>
            <a:r>
              <a:rPr lang="en-US" sz="1500" dirty="0">
                <a:solidFill>
                  <a:srgbClr val="2A2A2A"/>
                </a:solidFill>
              </a:rPr>
              <a:t>of gradient but placed exactly on the cases auto fits wrong.</a:t>
            </a:r>
            <a:endParaRPr sz="1500" dirty="0">
              <a:solidFill>
                <a:srgbClr val="2A2A2A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0" y="1280160"/>
            <a:ext cx="5212080" cy="1630062"/>
          </a:xfrm>
          <a:prstGeom prst="rect">
            <a:avLst/>
          </a:prstGeom>
          <a:solidFill>
            <a:srgbClr val="F6F8FB"/>
          </a:solidFill>
          <a:ln>
            <a:noFill/>
          </a:ln>
        </p:spPr>
        <p:txBody>
          <a:bodyPr wrap="square" lIns="182880" tIns="137160" rIns="182880" anchor="t">
            <a:spAutoFit/>
          </a:bodyPr>
          <a:lstStyle/>
          <a:p>
            <a:pPr algn="l"/>
            <a:r>
              <a:rPr sz="1300" b="1" dirty="0">
                <a:solidFill>
                  <a:srgbClr val="C0392B"/>
                </a:solidFill>
              </a:rPr>
              <a:t>Insight 2</a:t>
            </a:r>
          </a:p>
          <a:p>
            <a:pPr>
              <a:lnSpc>
                <a:spcPct val="120000"/>
              </a:lnSpc>
            </a:pPr>
            <a:r>
              <a:rPr sz="2000" b="1" dirty="0">
                <a:solidFill>
                  <a:srgbClr val="1F2E55"/>
                </a:solidFill>
              </a:rPr>
              <a:t>Strategy of elicitation matters</a:t>
            </a:r>
          </a:p>
          <a:p>
            <a:pPr>
              <a:lnSpc>
                <a:spcPct val="130000"/>
              </a:lnSpc>
            </a:pPr>
            <a:r>
              <a:rPr sz="1500" dirty="0">
                <a:solidFill>
                  <a:srgbClr val="2A2A2A"/>
                </a:solidFill>
              </a:rPr>
              <a:t>Compare </a:t>
            </a:r>
            <a:r>
              <a:rPr lang="en-US" sz="1500" dirty="0">
                <a:solidFill>
                  <a:srgbClr val="2A2A2A"/>
                </a:solidFill>
              </a:rPr>
              <a:t>random elicitation </a:t>
            </a:r>
            <a:r>
              <a:rPr sz="1500" dirty="0">
                <a:solidFill>
                  <a:srgbClr val="2A2A2A"/>
                </a:solidFill>
              </a:rPr>
              <a:t>vs</a:t>
            </a:r>
            <a:r>
              <a:rPr lang="en-US" sz="1500" dirty="0">
                <a:solidFill>
                  <a:srgbClr val="2A2A2A"/>
                </a:solidFill>
              </a:rPr>
              <a:t> </a:t>
            </a:r>
            <a:r>
              <a:rPr sz="1500" dirty="0">
                <a:solidFill>
                  <a:srgbClr val="2A2A2A"/>
                </a:solidFill>
              </a:rPr>
              <a:t>uncertainty × diversity active learning vs </a:t>
            </a:r>
            <a:r>
              <a:rPr lang="en-US" sz="1500" dirty="0">
                <a:solidFill>
                  <a:srgbClr val="2A2A2A"/>
                </a:solidFill>
              </a:rPr>
              <a:t>iterative active learning</a:t>
            </a:r>
            <a:r>
              <a:rPr sz="1500" dirty="0">
                <a:solidFill>
                  <a:srgbClr val="2A2A2A"/>
                </a:solidFill>
              </a:rPr>
              <a:t> at the same label budget.</a:t>
            </a:r>
            <a:endParaRPr lang="en-US" sz="1500" dirty="0">
              <a:solidFill>
                <a:srgbClr val="2A2A2A"/>
              </a:solidFill>
            </a:endParaRPr>
          </a:p>
          <a:p>
            <a:pPr>
              <a:lnSpc>
                <a:spcPct val="130000"/>
              </a:lnSpc>
            </a:pPr>
            <a:endParaRPr sz="1500" dirty="0">
              <a:solidFill>
                <a:srgbClr val="2A2A2A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106424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dirty="0">
                <a:solidFill>
                  <a:srgbClr val="2A2A2A"/>
                </a:solidFill>
              </a:rPr>
              <a:t>• Small 3D CNN over a 16-step (4-channel × T × H × W) spatial-temporal volume → scalar segment score.
• </a:t>
            </a:r>
            <a:r>
              <a:rPr sz="1800" b="0" dirty="0" err="1">
                <a:solidFill>
                  <a:srgbClr val="2A2A2A"/>
                </a:solidFill>
              </a:rPr>
              <a:t>RankNet</a:t>
            </a:r>
            <a:r>
              <a:rPr sz="1800" b="0" dirty="0">
                <a:solidFill>
                  <a:srgbClr val="2A2A2A"/>
                </a:solidFill>
              </a:rPr>
              <a:t> pairwise loss on auto-pairs + </a:t>
            </a:r>
            <a:r>
              <a:rPr lang="en-US" dirty="0">
                <a:solidFill>
                  <a:srgbClr val="2A2A2A"/>
                </a:solidFill>
              </a:rPr>
              <a:t>replacing auto-pair with </a:t>
            </a:r>
            <a:r>
              <a:rPr sz="1800" b="0" dirty="0">
                <a:solidFill>
                  <a:srgbClr val="2A2A2A"/>
                </a:solidFill>
              </a:rPr>
              <a:t>human </a:t>
            </a:r>
            <a:r>
              <a:rPr lang="en-US" dirty="0">
                <a:solidFill>
                  <a:srgbClr val="2A2A2A"/>
                </a:solidFill>
              </a:rPr>
              <a:t>labels</a:t>
            </a:r>
            <a:r>
              <a:rPr sz="1800" b="0" dirty="0">
                <a:solidFill>
                  <a:srgbClr val="2A2A2A"/>
                </a:solidFill>
              </a:rPr>
              <a:t>.
• Replay tool: </a:t>
            </a:r>
            <a:r>
              <a:rPr lang="en-US" sz="1800" b="0" dirty="0">
                <a:solidFill>
                  <a:srgbClr val="2A2A2A"/>
                </a:solidFill>
              </a:rPr>
              <a:t>display two animated segments side by side and ask human to mark the worse of the pair</a:t>
            </a:r>
            <a:r>
              <a:rPr sz="1800" b="0" dirty="0">
                <a:solidFill>
                  <a:srgbClr val="2A2A2A"/>
                </a:solidFill>
              </a:rPr>
              <a:t>.
• </a:t>
            </a:r>
            <a:r>
              <a:rPr lang="en-US" sz="1800" b="0" dirty="0">
                <a:solidFill>
                  <a:srgbClr val="2A2A2A"/>
                </a:solidFill>
              </a:rPr>
              <a:t>A</a:t>
            </a:r>
            <a:r>
              <a:rPr sz="1800" b="0" dirty="0">
                <a:solidFill>
                  <a:srgbClr val="2A2A2A"/>
                </a:solidFill>
              </a:rPr>
              <a:t>ctive query with acquisition</a:t>
            </a:r>
            <a:r>
              <a:rPr lang="en-US" sz="1800" b="0" dirty="0">
                <a:solidFill>
                  <a:srgbClr val="2A2A2A"/>
                </a:solidFill>
              </a:rPr>
              <a:t> function:</a:t>
            </a:r>
            <a:r>
              <a:rPr sz="1800" b="0" dirty="0">
                <a:solidFill>
                  <a:srgbClr val="2A2A2A"/>
                </a:solidFill>
              </a:rPr>
              <a:t>  H( </a:t>
            </a:r>
            <a:r>
              <a:rPr sz="1800" b="0" dirty="0" err="1">
                <a:solidFill>
                  <a:srgbClr val="2A2A2A"/>
                </a:solidFill>
              </a:rPr>
              <a:t>σ</a:t>
            </a:r>
            <a:r>
              <a:rPr sz="1800" b="0" dirty="0">
                <a:solidFill>
                  <a:srgbClr val="2A2A2A"/>
                </a:solidFill>
              </a:rPr>
              <a:t>(</a:t>
            </a:r>
            <a:r>
              <a:rPr sz="1800" b="0" dirty="0" err="1">
                <a:solidFill>
                  <a:srgbClr val="2A2A2A"/>
                </a:solidFill>
              </a:rPr>
              <a:t>s</a:t>
            </a:r>
            <a:r>
              <a:rPr sz="1800" b="0" baseline="-25000" dirty="0" err="1">
                <a:solidFill>
                  <a:srgbClr val="2A2A2A"/>
                </a:solidFill>
              </a:rPr>
              <a:t>A</a:t>
            </a:r>
            <a:r>
              <a:rPr sz="1800" b="0" dirty="0">
                <a:solidFill>
                  <a:srgbClr val="2A2A2A"/>
                </a:solidFill>
              </a:rPr>
              <a:t> − </a:t>
            </a:r>
            <a:r>
              <a:rPr sz="1800" b="0" dirty="0" err="1">
                <a:solidFill>
                  <a:srgbClr val="2A2A2A"/>
                </a:solidFill>
              </a:rPr>
              <a:t>s</a:t>
            </a:r>
            <a:r>
              <a:rPr sz="1800" b="0" baseline="-25000" dirty="0" err="1">
                <a:solidFill>
                  <a:srgbClr val="2A2A2A"/>
                </a:solidFill>
              </a:rPr>
              <a:t>B</a:t>
            </a:r>
            <a:r>
              <a:rPr sz="1800" b="0" dirty="0">
                <a:solidFill>
                  <a:srgbClr val="2A2A2A"/>
                </a:solidFill>
              </a:rPr>
              <a:t>) ) · ‖</a:t>
            </a:r>
            <a:r>
              <a:rPr sz="1800" b="0" dirty="0" err="1">
                <a:solidFill>
                  <a:srgbClr val="2A2A2A"/>
                </a:solidFill>
              </a:rPr>
              <a:t>φ</a:t>
            </a:r>
            <a:r>
              <a:rPr sz="1800" b="0" baseline="-25000" dirty="0" err="1">
                <a:solidFill>
                  <a:srgbClr val="2A2A2A"/>
                </a:solidFill>
              </a:rPr>
              <a:t>A</a:t>
            </a:r>
            <a:r>
              <a:rPr sz="1800" b="0" dirty="0">
                <a:solidFill>
                  <a:srgbClr val="2A2A2A"/>
                </a:solidFill>
              </a:rPr>
              <a:t> − </a:t>
            </a:r>
            <a:r>
              <a:rPr sz="1800" b="0" dirty="0" err="1">
                <a:solidFill>
                  <a:srgbClr val="2A2A2A"/>
                </a:solidFill>
              </a:rPr>
              <a:t>φ</a:t>
            </a:r>
            <a:r>
              <a:rPr sz="1800" b="0" baseline="-25000" dirty="0" err="1">
                <a:solidFill>
                  <a:srgbClr val="2A2A2A"/>
                </a:solidFill>
              </a:rPr>
              <a:t>B</a:t>
            </a:r>
            <a:r>
              <a:rPr sz="1800" b="0" dirty="0">
                <a:solidFill>
                  <a:srgbClr val="2A2A2A"/>
                </a:solidFill>
              </a:rPr>
              <a:t>‖  (uncertainty × diversity).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43D7C21-76FB-1EFC-8346-D375F0D57F5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5379938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5D5E117-B642-C392-CCE2-6B4A61C967FC}"/>
              </a:ext>
            </a:extLst>
          </p:cNvPr>
          <p:cNvSpPr txBox="1"/>
          <p:nvPr/>
        </p:nvSpPr>
        <p:spPr>
          <a:xfrm>
            <a:off x="548640" y="365760"/>
            <a:ext cx="1097280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3000" b="1" dirty="0">
                <a:solidFill>
                  <a:srgbClr val="1F2E55"/>
                </a:solidFill>
              </a:rPr>
              <a:t>Demo</a:t>
            </a:r>
            <a:endParaRPr sz="3000" b="1" dirty="0">
              <a:solidFill>
                <a:srgbClr val="1F2E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2011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DE1E3-E251-5BB3-E692-27327D9D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DAED9F6-5FFC-F04D-CD30-333A746405E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D7C21-76FB-1EFC-8346-D375F0D57F5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84FF2EE8-6C53-EFC5-972A-DD2205C79BE4}"/>
              </a:ext>
            </a:extLst>
          </p:cNvPr>
          <p:cNvSpPr txBox="1"/>
          <p:nvPr/>
        </p:nvSpPr>
        <p:spPr>
          <a:xfrm>
            <a:off x="548640" y="365760"/>
            <a:ext cx="1097280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3000" b="1" dirty="0">
                <a:solidFill>
                  <a:srgbClr val="1F2E55"/>
                </a:solidFill>
              </a:rPr>
              <a:t>Human labeling demo</a:t>
            </a:r>
            <a:endParaRPr sz="3000" b="1" dirty="0">
              <a:solidFill>
                <a:srgbClr val="1F2E55"/>
              </a:solidFill>
            </a:endParaRPr>
          </a:p>
        </p:txBody>
      </p:sp>
      <p:pic>
        <p:nvPicPr>
          <p:cNvPr id="2" name="stage 4 labeling">
            <a:hlinkClick r:id="" action="ppaction://media"/>
            <a:extLst>
              <a:ext uri="{FF2B5EF4-FFF2-40B4-BE49-F238E27FC236}">
                <a16:creationId xmlns:a16="http://schemas.microsoft.com/office/drawing/2014/main" id="{07EF718C-F715-5C19-C7A9-5B41C1359EAE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911278" y="1218203"/>
            <a:ext cx="8369444" cy="4421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51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325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dirty="0">
                <a:solidFill>
                  <a:srgbClr val="1F2E55"/>
                </a:solidFill>
              </a:rPr>
              <a:t>Active-learning exte</a:t>
            </a:r>
            <a:r>
              <a:rPr lang="en-US" sz="2800" b="1" dirty="0">
                <a:solidFill>
                  <a:srgbClr val="1F2E55"/>
                </a:solidFill>
              </a:rPr>
              <a:t>nsion</a:t>
            </a:r>
            <a:endParaRPr sz="2800" b="1" dirty="0">
              <a:solidFill>
                <a:srgbClr val="1F2E55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>
                <a:solidFill>
                  <a:srgbClr val="555555"/>
                </a:solidFill>
              </a:rPr>
              <a:t>Same trainer, same data, same ~56-label budget</a:t>
            </a:r>
            <a:r>
              <a:rPr lang="en-US" sz="1400" b="0" dirty="0">
                <a:solidFill>
                  <a:srgbClr val="555555"/>
                </a:solidFill>
              </a:rPr>
              <a:t>:</a:t>
            </a:r>
            <a:r>
              <a:rPr sz="1400" b="0" dirty="0">
                <a:solidFill>
                  <a:srgbClr val="555555"/>
                </a:solidFill>
              </a:rPr>
              <a:t> only the acquisition strategy differs.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9357325"/>
              </p:ext>
            </p:extLst>
          </p:nvPr>
        </p:nvGraphicFramePr>
        <p:xfrm>
          <a:off x="548640" y="1554480"/>
          <a:ext cx="11064240" cy="3025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2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1
(auto only)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2
(random sampling)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1F2E55"/>
                          </a:solidFill>
                        </a:rPr>
                        <a:t>Stage 3
(warm-start AL)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E55"/>
                          </a:solidFill>
                        </a:rPr>
                        <a:t>Stage 4
(iterative AL · 4×14)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Acquisition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uniform 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uncertainty × diversity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uncertainty × div., 4 rounds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hp_val (val-map · 12 pairs)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0.417 (5/12)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0.417 (5/12)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C0392B"/>
                          </a:solidFill>
                        </a:rPr>
                        <a:t>0.583 (7/12)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C0392B"/>
                          </a:solidFill>
                        </a:rPr>
                        <a:t>0.583 (7/12)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DDG argmax_pm1 (val maps 144-147)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0.562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0.541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best round (Stage 4 only)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round 3 (pm1=0.565, </a:t>
                      </a:r>
                      <a:r>
                        <a:rPr sz="1100" b="0" dirty="0" err="1">
                          <a:solidFill>
                            <a:srgbClr val="2A2A2A"/>
                          </a:solidFill>
                        </a:rPr>
                        <a:t>hp_val</a:t>
                      </a:r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=0.583)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Train labels used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56 (random)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56 (pool 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4 × 14 (iter 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Annotator hours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≈</a:t>
                      </a:r>
                      <a:r>
                        <a:rPr lang="en-US" sz="1100" b="0" dirty="0">
                          <a:solidFill>
                            <a:srgbClr val="2A2A2A"/>
                          </a:solidFill>
                        </a:rPr>
                        <a:t>0.5</a:t>
                      </a:r>
                      <a:endParaRPr sz="1100" b="0" dirty="0">
                        <a:solidFill>
                          <a:srgbClr val="2A2A2A"/>
                        </a:solidFill>
                      </a:endParaRP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≈</a:t>
                      </a:r>
                      <a:r>
                        <a:rPr lang="en-US" sz="1100" b="0" dirty="0">
                          <a:solidFill>
                            <a:srgbClr val="2A2A2A"/>
                          </a:solidFill>
                        </a:rPr>
                        <a:t>0.5</a:t>
                      </a:r>
                      <a:endParaRPr sz="1100" b="0" dirty="0">
                        <a:solidFill>
                          <a:srgbClr val="2A2A2A"/>
                        </a:solidFill>
                      </a:endParaRP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≈</a:t>
                      </a:r>
                      <a:r>
                        <a:rPr lang="en-US" sz="1100" b="0" dirty="0">
                          <a:solidFill>
                            <a:srgbClr val="2A2A2A"/>
                          </a:solidFill>
                        </a:rPr>
                        <a:t>0.5</a:t>
                      </a:r>
                      <a:endParaRPr sz="1100" b="0" dirty="0">
                        <a:solidFill>
                          <a:srgbClr val="2A2A2A"/>
                        </a:solidFill>
                      </a:endParaRP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Distinct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≤56 (no 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A2A2A"/>
                          </a:solidFill>
                        </a:rPr>
                        <a:t>≤28 (cap=2)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2A2A2A"/>
                          </a:solidFill>
                        </a:rPr>
                        <a:t>≤28 (cap=2)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1" dirty="0">
                <a:solidFill>
                  <a:srgbClr val="C0392B"/>
                </a:solidFill>
              </a:rPr>
              <a:t>Walk-aways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00600"/>
            <a:ext cx="11460480" cy="1470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dirty="0">
                <a:solidFill>
                  <a:srgbClr val="2A2A2A"/>
                </a:solidFill>
              </a:rPr>
              <a:t>• </a:t>
            </a:r>
            <a:r>
              <a:rPr sz="1400" b="0" dirty="0">
                <a:solidFill>
                  <a:srgbClr val="2A2A2A"/>
                </a:solidFill>
              </a:rPr>
              <a:t>Random sampling at fixed budget gives </a:t>
            </a:r>
            <a:r>
              <a:rPr sz="1400" b="1" dirty="0">
                <a:solidFill>
                  <a:srgbClr val="C0392B"/>
                </a:solidFill>
              </a:rPr>
              <a:t>zero lift</a:t>
            </a:r>
            <a:r>
              <a:rPr sz="1400" b="0" dirty="0">
                <a:solidFill>
                  <a:srgbClr val="2A2A2A"/>
                </a:solidFill>
              </a:rPr>
              <a:t> over auto-only on </a:t>
            </a:r>
            <a:r>
              <a:rPr sz="1400" b="0" dirty="0" err="1">
                <a:solidFill>
                  <a:srgbClr val="2A2A2A"/>
                </a:solidFill>
              </a:rPr>
              <a:t>hp_val</a:t>
            </a:r>
            <a:r>
              <a:rPr sz="1400" b="0" dirty="0">
                <a:solidFill>
                  <a:srgbClr val="2A2A2A"/>
                </a:solidFill>
              </a:rPr>
              <a:t>. Just adding human labels without selection priority is not enough.</a:t>
            </a:r>
            <a:endParaRPr sz="1500" b="0" dirty="0">
              <a:solidFill>
                <a:srgbClr val="2A2A2A"/>
              </a:solidFill>
            </a:endParaRPr>
          </a:p>
          <a:p>
            <a:pPr>
              <a:lnSpc>
                <a:spcPct val="130000"/>
              </a:lnSpc>
            </a:pPr>
            <a:r>
              <a:rPr sz="1400" dirty="0">
                <a:solidFill>
                  <a:srgbClr val="2A2A2A"/>
                </a:solidFill>
              </a:rPr>
              <a:t>• </a:t>
            </a:r>
            <a:r>
              <a:rPr sz="1400" b="0" dirty="0">
                <a:solidFill>
                  <a:srgbClr val="2A2A2A"/>
                </a:solidFill>
              </a:rPr>
              <a:t>AL with uncertainty × diversity selection: </a:t>
            </a:r>
            <a:r>
              <a:rPr sz="1400" b="1" dirty="0">
                <a:solidFill>
                  <a:srgbClr val="C0392B"/>
                </a:solidFill>
              </a:rPr>
              <a:t>+17 pp on </a:t>
            </a:r>
            <a:r>
              <a:rPr sz="1400" b="1" dirty="0" err="1">
                <a:solidFill>
                  <a:srgbClr val="C0392B"/>
                </a:solidFill>
              </a:rPr>
              <a:t>hp_val</a:t>
            </a:r>
            <a:r>
              <a:rPr sz="1400" b="0" dirty="0">
                <a:solidFill>
                  <a:srgbClr val="2A2A2A"/>
                </a:solidFill>
              </a:rPr>
              <a:t> over random at the same 56-label budget. Selection strategy matters more than label volume.</a:t>
            </a:r>
          </a:p>
          <a:p>
            <a:pPr>
              <a:lnSpc>
                <a:spcPct val="130000"/>
              </a:lnSpc>
            </a:pPr>
            <a:r>
              <a:rPr sz="1400" dirty="0">
                <a:solidFill>
                  <a:srgbClr val="2A2A2A"/>
                </a:solidFill>
              </a:rPr>
              <a:t>• </a:t>
            </a:r>
            <a:r>
              <a:rPr sz="1400" b="1" dirty="0">
                <a:solidFill>
                  <a:srgbClr val="2A2A2A"/>
                </a:solidFill>
              </a:rPr>
              <a:t>Iterative AL ≈ single-shot AL</a:t>
            </a:r>
            <a:r>
              <a:rPr sz="1400" b="0" dirty="0">
                <a:solidFill>
                  <a:srgbClr val="2A2A2A"/>
                </a:solidFill>
              </a:rPr>
              <a:t> at this budget. 4 rounds of 14 labels with model retrained between matches one batch of 56. Engineering the loop did not pay off here.</a:t>
            </a:r>
          </a:p>
          <a:p>
            <a:pPr>
              <a:lnSpc>
                <a:spcPct val="130000"/>
              </a:lnSpc>
            </a:pPr>
            <a:r>
              <a:rPr sz="1400" dirty="0">
                <a:solidFill>
                  <a:srgbClr val="2A2A2A"/>
                </a:solidFill>
              </a:rPr>
              <a:t>• </a:t>
            </a:r>
            <a:r>
              <a:rPr sz="1400" b="0" dirty="0">
                <a:solidFill>
                  <a:srgbClr val="2A2A2A"/>
                </a:solidFill>
              </a:rPr>
              <a:t>DDG-aligned ranking </a:t>
            </a:r>
            <a:r>
              <a:rPr sz="1400" b="1" dirty="0">
                <a:solidFill>
                  <a:srgbClr val="2A2A2A"/>
                </a:solidFill>
              </a:rPr>
              <a:t>preserved</a:t>
            </a:r>
            <a:r>
              <a:rPr sz="1400" b="0" dirty="0">
                <a:solidFill>
                  <a:srgbClr val="2A2A2A"/>
                </a:solidFill>
              </a:rPr>
              <a:t> across all four stages: argmax_pm1 ∈ [0.541, 0.565].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7 /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dirty="0">
                <a:solidFill>
                  <a:srgbClr val="1F2E55"/>
                </a:solidFill>
              </a:rPr>
              <a:t>Conclusion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</a:rPr>
              <a:t>Walk-aways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11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900" dirty="0">
                <a:solidFill>
                  <a:srgbClr val="2A2A2A"/>
                </a:solidFill>
              </a:rPr>
              <a:t>• </a:t>
            </a:r>
            <a:r>
              <a:rPr sz="1900" b="0" dirty="0">
                <a:solidFill>
                  <a:srgbClr val="2A2A2A"/>
                </a:solidFill>
                <a:highlight>
                  <a:srgbClr val="FF0000"/>
                </a:highlight>
              </a:rPr>
              <a:t>39 human pairs (≈0.15% of gradient) </a:t>
            </a:r>
            <a:r>
              <a:rPr sz="1900" b="0" dirty="0">
                <a:solidFill>
                  <a:srgbClr val="2A2A2A"/>
                </a:solidFill>
              </a:rPr>
              <a:t>→ </a:t>
            </a:r>
            <a:r>
              <a:rPr sz="1900" b="1" dirty="0">
                <a:solidFill>
                  <a:srgbClr val="C0392B"/>
                </a:solidFill>
              </a:rPr>
              <a:t>+23 pp pairwise / +8 pp exact-match</a:t>
            </a:r>
            <a:r>
              <a:rPr sz="1900" b="0" dirty="0">
                <a:solidFill>
                  <a:srgbClr val="2A2A2A"/>
                </a:solidFill>
              </a:rPr>
              <a:t> human alignment, no DDG cost.</a:t>
            </a:r>
          </a:p>
          <a:p>
            <a:pPr>
              <a:lnSpc>
                <a:spcPct val="125000"/>
              </a:lnSpc>
            </a:pPr>
            <a:r>
              <a:rPr sz="1900" dirty="0">
                <a:solidFill>
                  <a:srgbClr val="2A2A2A"/>
                </a:solidFill>
              </a:rPr>
              <a:t>• </a:t>
            </a:r>
            <a:r>
              <a:rPr sz="1900" b="0" dirty="0">
                <a:solidFill>
                  <a:srgbClr val="2A2A2A"/>
                </a:solidFill>
              </a:rPr>
              <a:t>The </a:t>
            </a:r>
            <a:r>
              <a:rPr sz="1900" b="1" dirty="0">
                <a:solidFill>
                  <a:srgbClr val="2A2A2A"/>
                </a:solidFill>
              </a:rPr>
              <a:t>save-best criterion</a:t>
            </a:r>
            <a:r>
              <a:rPr sz="1900" b="0" dirty="0">
                <a:solidFill>
                  <a:srgbClr val="2A2A2A"/>
                </a:solidFill>
              </a:rPr>
              <a:t> is itself a deployment choice</a:t>
            </a:r>
            <a:r>
              <a:rPr lang="en-US" sz="1900" b="0" dirty="0">
                <a:solidFill>
                  <a:srgbClr val="2A2A2A"/>
                </a:solidFill>
              </a:rPr>
              <a:t>:</a:t>
            </a:r>
            <a:r>
              <a:rPr sz="1900" b="0" dirty="0">
                <a:solidFill>
                  <a:srgbClr val="2A2A2A"/>
                </a:solidFill>
              </a:rPr>
              <a:t> 4 saved checkpoints differ by 31 pp on top-1 metric.</a:t>
            </a:r>
          </a:p>
          <a:p>
            <a:pPr>
              <a:lnSpc>
                <a:spcPct val="125000"/>
              </a:lnSpc>
            </a:pPr>
            <a:r>
              <a:rPr sz="1900" dirty="0">
                <a:solidFill>
                  <a:srgbClr val="2A2A2A"/>
                </a:solidFill>
              </a:rPr>
              <a:t>• </a:t>
            </a:r>
            <a:r>
              <a:rPr sz="1900" b="0" dirty="0">
                <a:solidFill>
                  <a:srgbClr val="2A2A2A"/>
                </a:solidFill>
              </a:rPr>
              <a:t>The </a:t>
            </a:r>
            <a:r>
              <a:rPr sz="1900" b="1" dirty="0">
                <a:solidFill>
                  <a:srgbClr val="2A2A2A"/>
                </a:solidFill>
              </a:rPr>
              <a:t>acquisition-strategy comparison</a:t>
            </a:r>
            <a:r>
              <a:rPr sz="1900" b="0" dirty="0">
                <a:solidFill>
                  <a:srgbClr val="2A2A2A"/>
                </a:solidFill>
              </a:rPr>
              <a:t> (Stages 1–4 at fixed budget) </a:t>
            </a:r>
            <a:r>
              <a:rPr lang="en-US" sz="1900" b="0" dirty="0">
                <a:solidFill>
                  <a:srgbClr val="2A2A2A"/>
                </a:solidFill>
              </a:rPr>
              <a:t>matters.</a:t>
            </a:r>
            <a:endParaRPr sz="1900" b="0" dirty="0">
              <a:solidFill>
                <a:srgbClr val="2A2A2A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1106424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b="1" dirty="0">
                <a:solidFill>
                  <a:srgbClr val="C0392B"/>
                </a:solidFill>
              </a:rPr>
              <a:t>L</a:t>
            </a:r>
            <a:r>
              <a:rPr sz="1500" b="1" dirty="0">
                <a:solidFill>
                  <a:srgbClr val="C0392B"/>
                </a:solidFill>
              </a:rPr>
              <a:t>imitations</a:t>
            </a:r>
            <a:r>
              <a:rPr lang="en-US" sz="1500" b="1" dirty="0">
                <a:solidFill>
                  <a:srgbClr val="C0392B"/>
                </a:solidFill>
              </a:rPr>
              <a:t> and Future Work</a:t>
            </a:r>
            <a:endParaRPr sz="1500" b="1" dirty="0">
              <a:solidFill>
                <a:srgbClr val="C0392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64240" cy="722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700" dirty="0">
                <a:solidFill>
                  <a:srgbClr val="555555"/>
                </a:solidFill>
              </a:rPr>
              <a:t>• Dataset size is still lean and we would like to add more data annotations to try for improvements over more epochs</a:t>
            </a:r>
          </a:p>
          <a:p>
            <a:pPr>
              <a:lnSpc>
                <a:spcPct val="125000"/>
              </a:lnSpc>
            </a:pPr>
            <a:r>
              <a:rPr sz="1700" dirty="0">
                <a:solidFill>
                  <a:srgbClr val="555555"/>
                </a:solidFill>
              </a:rPr>
              <a:t>• No downstream MAPF-GPT impact study yet</a:t>
            </a:r>
            <a:r>
              <a:rPr lang="en-US" sz="1700" dirty="0">
                <a:solidFill>
                  <a:srgbClr val="555555"/>
                </a:solidFill>
              </a:rPr>
              <a:t>:</a:t>
            </a:r>
            <a:r>
              <a:rPr sz="1700" dirty="0">
                <a:solidFill>
                  <a:srgbClr val="555555"/>
                </a:solidFill>
              </a:rPr>
              <a:t> does using this classifier in DDG </a:t>
            </a:r>
            <a:r>
              <a:rPr lang="en-US" sz="1700" dirty="0">
                <a:solidFill>
                  <a:srgbClr val="555555"/>
                </a:solidFill>
              </a:rPr>
              <a:t>train</a:t>
            </a:r>
            <a:r>
              <a:rPr sz="1700" dirty="0">
                <a:solidFill>
                  <a:srgbClr val="555555"/>
                </a:solidFill>
              </a:rPr>
              <a:t> a better policy on POGEMA?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8 /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18F0E8-A2B4-662E-C154-CFC770DF08C9}"/>
              </a:ext>
            </a:extLst>
          </p:cNvPr>
          <p:cNvSpPr txBox="1"/>
          <p:nvPr/>
        </p:nvSpPr>
        <p:spPr>
          <a:xfrm>
            <a:off x="548640" y="2832518"/>
            <a:ext cx="1097280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4400" b="1" dirty="0">
                <a:solidFill>
                  <a:srgbClr val="1F2E55"/>
                </a:solidFill>
              </a:rPr>
              <a:t>Thank you! </a:t>
            </a:r>
            <a:endParaRPr sz="4400" b="1" dirty="0">
              <a:solidFill>
                <a:srgbClr val="1F2E5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7201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dirty="0">
                <a:solidFill>
                  <a:srgbClr val="1F2E55"/>
                </a:solidFill>
              </a:rPr>
              <a:t>Results: hand-curation lifts every gold-label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555555"/>
                </a:solidFill>
              </a:rPr>
              <a:t>On the same 13 held-out human pairs · best checkpoint per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51334"/>
              </p:ext>
            </p:extLst>
          </p:nvPr>
        </p:nvGraphicFramePr>
        <p:xfrm>
          <a:off x="548640" y="1554480"/>
          <a:ext cx="6858000" cy="2548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8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F2E55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Stage 1 (auto only)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Stage 2 (+39 human)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F2E55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Pairwise (hp_v on 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0.615  (8/13)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0.846  (11/13)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+0.231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Exact-match (h-arg top-1)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0.538  (7/13)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0.615  (8/13)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+0.077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DDG argmax_pm1 (auto val maps)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0.541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−0.009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DDG top-3 (auto val maps)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A2A2A"/>
                          </a:solidFill>
                        </a:rPr>
                        <a:t>0.578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C0392B"/>
                          </a:solidFill>
                        </a:rPr>
                        <a:t>−0.019</a:t>
                      </a:r>
                    </a:p>
                  </a:txBody>
                  <a:tcPr>
                    <a:solidFill>
                      <a:srgbClr val="F6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0392B"/>
                </a:solidFill>
              </a:rPr>
              <a:t>Walk-away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11064240" cy="11054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dirty="0">
                <a:solidFill>
                  <a:srgbClr val="2A2A2A"/>
                </a:solidFill>
              </a:rPr>
              <a:t>• </a:t>
            </a:r>
            <a:r>
              <a:rPr sz="1800" b="1" dirty="0">
                <a:solidFill>
                  <a:srgbClr val="C0392B"/>
                </a:solidFill>
              </a:rPr>
              <a:t>+3 of 13 pairs</a:t>
            </a:r>
            <a:r>
              <a:rPr sz="1800" b="0" dirty="0">
                <a:solidFill>
                  <a:srgbClr val="2A2A2A"/>
                </a:solidFill>
              </a:rPr>
              <a:t> ranked correctly · </a:t>
            </a:r>
            <a:r>
              <a:rPr sz="1800" b="1" dirty="0">
                <a:solidFill>
                  <a:srgbClr val="C0392B"/>
                </a:solidFill>
              </a:rPr>
              <a:t>+1 of 13</a:t>
            </a:r>
            <a:r>
              <a:rPr sz="1800" b="0" dirty="0">
                <a:solidFill>
                  <a:srgbClr val="2A2A2A"/>
                </a:solidFill>
              </a:rPr>
              <a:t> worst-segments identified exactly.</a:t>
            </a:r>
          </a:p>
          <a:p>
            <a:pPr>
              <a:lnSpc>
                <a:spcPct val="125000"/>
              </a:lnSpc>
            </a:pPr>
            <a:r>
              <a:rPr sz="1800" dirty="0">
                <a:solidFill>
                  <a:srgbClr val="2A2A2A"/>
                </a:solidFill>
              </a:rPr>
              <a:t>• </a:t>
            </a:r>
            <a:r>
              <a:rPr sz="1800" b="1" dirty="0">
                <a:solidFill>
                  <a:srgbClr val="2A2A2A"/>
                </a:solidFill>
              </a:rPr>
              <a:t>No measurable cost</a:t>
            </a:r>
            <a:r>
              <a:rPr sz="1800" b="0" dirty="0">
                <a:solidFill>
                  <a:srgbClr val="2A2A2A"/>
                </a:solidFill>
              </a:rPr>
              <a:t> on auto-aligned ranking </a:t>
            </a:r>
            <a:r>
              <a:rPr lang="en-US" sz="1800" b="0" dirty="0">
                <a:solidFill>
                  <a:srgbClr val="2A2A2A"/>
                </a:solidFill>
              </a:rPr>
              <a:t>both DDG</a:t>
            </a:r>
            <a:r>
              <a:rPr sz="1800" b="0" dirty="0">
                <a:solidFill>
                  <a:srgbClr val="2A2A2A"/>
                </a:solidFill>
              </a:rPr>
              <a:t> metrics within 2 points.</a:t>
            </a:r>
          </a:p>
          <a:p>
            <a:pPr>
              <a:lnSpc>
                <a:spcPct val="125000"/>
              </a:lnSpc>
            </a:pPr>
            <a:r>
              <a:rPr sz="1800" dirty="0">
                <a:solidFill>
                  <a:srgbClr val="2A2A2A"/>
                </a:solidFill>
              </a:rPr>
              <a:t>• </a:t>
            </a:r>
            <a:r>
              <a:rPr sz="1800" b="0" dirty="0">
                <a:solidFill>
                  <a:srgbClr val="2A2A2A"/>
                </a:solidFill>
              </a:rPr>
              <a:t>Deployment-ready checkpoint: </a:t>
            </a:r>
            <a:r>
              <a:rPr sz="1600" b="1" dirty="0">
                <a:solidFill>
                  <a:srgbClr val="1F2E55"/>
                </a:solidFill>
              </a:rPr>
              <a:t>with_human_labels.human_argmax_top1.pt</a:t>
            </a:r>
            <a:r>
              <a:rPr sz="1800" b="0" dirty="0">
                <a:solidFill>
                  <a:srgbClr val="2A2A2A"/>
                </a:solidFill>
              </a:rPr>
              <a:t> (best across all 4 save criteria).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</a:rPr>
              <a:t>HRI Final · Human-in-the-Loop Congestion Classification for MAPF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</a:rPr>
              <a:t>6 / 8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1672</Words>
  <Application>Microsoft Macintosh PowerPoint</Application>
  <PresentationFormat>Widescreen</PresentationFormat>
  <Paragraphs>163</Paragraphs>
  <Slides>11</Slides>
  <Notes>8</Notes>
  <HiddenSlides>1</HiddenSlides>
  <MMClips>1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Sparsh Bansal</cp:lastModifiedBy>
  <cp:revision>79</cp:revision>
  <dcterms:created xsi:type="dcterms:W3CDTF">2013-01-27T09:14:16Z</dcterms:created>
  <dcterms:modified xsi:type="dcterms:W3CDTF">2026-05-03T21:39:12Z</dcterms:modified>
  <cp:category/>
</cp:coreProperties>
</file>