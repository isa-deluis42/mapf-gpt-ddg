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[ALL] Brief intros (Sparsh, Shane, Isabel) — keep under 10 seconds. Then hand to Sparsh.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[Sparsh, ~30s] Open with the warehouse / delivery framing. Make the HRI angle explicit — currently zero humans in the loop. End by motivating why human judgement could plausibly help.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[Sparsh, ~35s] This is the load-bearing motivation slide. Walk down the four rows: each prior approach has a clear limit, and our work explicitly targets DDG's gap. Pause on row 3 (44% threshold-wrong number — already lands as a punchline). Then read the 'what we add' bullets — these set up the rest of the talk. End with the RQ verbatim. The audience should walk out of THIS slide knowing what we built and why it's a contribution.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[Shane, ~30s] Three open challenges. The 44% number is the empirical hook — say it slowly. Frame challenge 3 as motivating the AL extension we discuss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[Shane, ~35s] Two boxed insights side-by-side. Linger on 'override, don't augment' — this is the one technical idea the whole project hangs on. The acquisition formula doesn't need to be read aloud; the audience just needs to register that there 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[Isabel, ~45s] Lead with the top two table rows — those are the headline. Then point at the figure: same data, different views. End on the walk-away: NO auto cost. That sells the override-don't-augment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[Isabel, ~35s] This is the slide that frames our depth contribution. Walk down the columns — Stages 3 and 4 share the same 56-label budget as Stage 2 and only the acquisition rule differs. Stages 3 &amp; 4 are still being collected, but the framework itself is the contribution: any ordering of the [PENDING] cells answers a substantive AL-design question. Once we have the numbers, we can update this single slide in PowerPoint and the whole story crystallises.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[Isabel, ~25s] Three walk-aways, three honest limitations. Don't oversell — the audience respects the variance disclosure. Land softly to invite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Backup. Pull up if asked about the human-vs-auto disagreement breakdown.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Backup. Pull up if asked about checkpoint-selection.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1F2E55"/>
                </a:solidFill>
              </a:rPr>
              <a:t>Human-in-the-Loop Congestion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8892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1F2E55"/>
                </a:solidFill>
              </a:rPr>
              <a:t>for Multi-Agent Pathfinding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555555"/>
                </a:solidFill>
              </a:rPr>
              <a:t>Replacing DDG's hand-tuned threshold with learned, human-aligned segment ranking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A2A2A"/>
                </a:solidFill>
              </a:rPr>
              <a:t>Shane Pornprinya  ·  Isabel De Luis  ·  Sparsh Bansal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9496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MIT  ·  Human-Robot Interaction  ·  Spring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</a:rPr>
              <a:t>HRI Final · Human-in-the-Loop Congestion Classification for MAPF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F2E55"/>
                </a:solidFill>
              </a:rPr>
              <a:t>Motivation: where MAPF policies break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2000">
                <a:solidFill>
                  <a:srgbClr val="2A2A2A"/>
                </a:solidFill>
              </a:rPr>
              <a:t>• </a:t>
            </a:r>
            <a:r>
              <a:rPr sz="2000" b="0">
                <a:solidFill>
                  <a:srgbClr val="2A2A2A"/>
                </a:solidFill>
              </a:rPr>
              <a:t>Multi-agent pathfinding (MAPF) coordinates teams of robots in shared spaces — </a:t>
            </a:r>
            <a:r>
              <a:rPr sz="2000" b="1">
                <a:solidFill>
                  <a:srgbClr val="2A2A2A"/>
                </a:solidFill>
              </a:rPr>
              <a:t>warehouses, delivery, search-and-rescue.</a:t>
            </a:r>
          </a:p>
          <a:p>
            <a:pPr>
              <a:lnSpc>
                <a:spcPct val="125000"/>
              </a:lnSpc>
            </a:pPr>
            <a:r>
              <a:rPr sz="2000">
                <a:solidFill>
                  <a:srgbClr val="2A2A2A"/>
                </a:solidFill>
              </a:rPr>
              <a:t>• </a:t>
            </a:r>
            <a:r>
              <a:rPr sz="2000" b="0">
                <a:solidFill>
                  <a:srgbClr val="2A2A2A"/>
                </a:solidFill>
              </a:rPr>
              <a:t>State-of-the-art: </a:t>
            </a:r>
            <a:r>
              <a:rPr sz="2000" b="1">
                <a:solidFill>
                  <a:srgbClr val="1F2E55"/>
                </a:solidFill>
              </a:rPr>
              <a:t>MAPF-GPT</a:t>
            </a:r>
            <a:r>
              <a:rPr sz="2000" b="0">
                <a:solidFill>
                  <a:srgbClr val="2A2A2A"/>
                </a:solidFill>
              </a:rPr>
              <a:t>, a transformer policy imitation-trained on solver demos. Cheap at inference; brittle on the long tail.</a:t>
            </a:r>
          </a:p>
          <a:p>
            <a:pPr>
              <a:lnSpc>
                <a:spcPct val="125000"/>
              </a:lnSpc>
            </a:pPr>
            <a:r>
              <a:rPr sz="2000">
                <a:solidFill>
                  <a:srgbClr val="2A2A2A"/>
                </a:solidFill>
              </a:rPr>
              <a:t>• </a:t>
            </a:r>
            <a:r>
              <a:rPr sz="2000" b="0">
                <a:solidFill>
                  <a:srgbClr val="2A2A2A"/>
                </a:solidFill>
              </a:rPr>
              <a:t>Failure mode: </a:t>
            </a:r>
            <a:r>
              <a:rPr sz="2000" b="1">
                <a:solidFill>
                  <a:srgbClr val="2A2A2A"/>
                </a:solidFill>
                <a:highlight>
                  <a:srgbClr val="FFFBCC"/>
                </a:highlight>
              </a:rPr>
              <a:t>congestion</a:t>
            </a:r>
            <a:r>
              <a:rPr sz="2000" b="0">
                <a:solidFill>
                  <a:srgbClr val="2A2A2A"/>
                </a:solidFill>
              </a:rPr>
              <a:t> — agents bunched at corridor pinch-points, deadlocks, swap conflicts.</a:t>
            </a:r>
          </a:p>
          <a:p>
            <a:pPr>
              <a:lnSpc>
                <a:spcPct val="125000"/>
              </a:lnSpc>
            </a:pPr>
            <a:r>
              <a:rPr sz="2000">
                <a:solidFill>
                  <a:srgbClr val="2A2A2A"/>
                </a:solidFill>
              </a:rPr>
              <a:t>• </a:t>
            </a:r>
            <a:r>
              <a:rPr sz="2000" b="0">
                <a:solidFill>
                  <a:srgbClr val="2A2A2A"/>
                </a:solidFill>
              </a:rPr>
              <a:t>The HRI question: </a:t>
            </a:r>
            <a:r>
              <a:rPr sz="2000" b="1">
                <a:solidFill>
                  <a:srgbClr val="2A2A2A"/>
                </a:solidFill>
                <a:highlight>
                  <a:srgbClr val="FFFBCC"/>
                </a:highlight>
              </a:rPr>
              <a:t>currently there is no human in this loop.</a:t>
            </a:r>
            <a:r>
              <a:rPr sz="2000" b="0">
                <a:solidFill>
                  <a:srgbClr val="2A2A2A"/>
                </a:solidFill>
              </a:rPr>
              <a:t> The policy trains on solver demos and is refined by a hand-tuned threshold. Where does human judgement help?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1264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88888"/>
                </a:solidFill>
              </a:rPr>
              <a:t>[ Speaker: Sparsh · ~30s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</a:rPr>
              <a:t>HRI Final · Human-in-the-Loop Congestion Classification for MAPF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E55"/>
                </a:solidFill>
              </a:rPr>
              <a:t>Approach landscape — what's been done, what's missing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Each prior approach leaves a gap that motivates the next.  Our work targets the gap left by DDG.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0642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E55"/>
                          </a:solidFill>
                        </a:rPr>
                        <a:t>Approach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E55"/>
                          </a:solidFill>
                        </a:rPr>
                        <a:t>What it does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E55"/>
                          </a:solidFill>
                        </a:rPr>
                        <a:t>Human in loop?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E55"/>
                          </a:solidFill>
                        </a:rPr>
                        <a:t>Limit / gap left open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2A2A"/>
                          </a:solidFill>
                        </a:rPr>
                        <a:t>MAPF-GPT  [Andreychuk '24]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2A2A"/>
                          </a:solidFill>
                        </a:rPr>
                        <a:t>Imitation-learn a transformer from offline LaCAM demos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2A2A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2A2A"/>
                          </a:solidFill>
                        </a:rPr>
                        <a:t>Long-tail congested cases under-represented in demos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2A2A"/>
                          </a:solidFill>
                        </a:rPr>
                        <a:t>DAgger  [Ross '11]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2A2A"/>
                          </a:solidFill>
                        </a:rPr>
                        <a:t>Iteratively roll the policy, expert-relabel every visited state, retrain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2A2A"/>
                          </a:solidFill>
                        </a:rPr>
                        <a:t>No (expert = solver)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2A2A"/>
                          </a:solidFill>
                        </a:rPr>
                        <a:t>Uniform expert calls per state — expensive at scale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2A2A"/>
                          </a:solidFill>
                        </a:rPr>
                        <a:t>Original DDG  [Andreychuk '25]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2A2A"/>
                          </a:solidFill>
                        </a:rPr>
                        <a:t>Threshold-gated DAgger: invoke expert only when max_diff &gt;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2A2A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2A2A"/>
                          </a:solidFill>
                        </a:rPr>
                        <a:t>Threshold wrong on 44% of borderline cases; midrange discarded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2A2A"/>
                          </a:solidFill>
                        </a:rPr>
                        <a:t>★  Our work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2A2A"/>
                          </a:solidFill>
                        </a:rPr>
                        <a:t>Learned classifier + human override + acquisition-strategy comparison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2A2A"/>
                          </a:solidFill>
                        </a:rPr>
                        <a:t>Yes (replay tool)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2A2A"/>
                          </a:solidFill>
                        </a:rPr>
                        <a:t>(this is the gap we explore)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3419856"/>
            <a:ext cx="146304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" b="0">
                <a:solidFill>
                  <a:srgbClr val="2A2A2A"/>
                </a:solidFill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6052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</a:rPr>
              <a:t>What we add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2628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700">
                <a:solidFill>
                  <a:srgbClr val="2A2A2A"/>
                </a:solidFill>
              </a:rPr>
              <a:t>• </a:t>
            </a:r>
            <a:r>
              <a:rPr sz="1700" b="0">
                <a:solidFill>
                  <a:srgbClr val="2A2A2A"/>
                </a:solidFill>
              </a:rPr>
              <a:t>Replace DDG's hand-tuned threshold with a </a:t>
            </a:r>
            <a:r>
              <a:rPr sz="1700" b="1">
                <a:solidFill>
                  <a:srgbClr val="1F2E55"/>
                </a:solidFill>
              </a:rPr>
              <a:t>learned segment-ranking classifier</a:t>
            </a:r>
            <a:r>
              <a:rPr sz="1700" b="0">
                <a:solidFill>
                  <a:srgbClr val="2A2A2A"/>
                </a:solidFill>
              </a:rPr>
              <a:t> trained with human pairwise verdicts.</a:t>
            </a:r>
          </a:p>
          <a:p>
            <a:pPr>
              <a:lnSpc>
                <a:spcPct val="125000"/>
              </a:lnSpc>
            </a:pPr>
            <a:r>
              <a:rPr sz="1700">
                <a:solidFill>
                  <a:srgbClr val="2A2A2A"/>
                </a:solidFill>
              </a:rPr>
              <a:t>• </a:t>
            </a:r>
            <a:r>
              <a:rPr sz="1700" b="0">
                <a:solidFill>
                  <a:srgbClr val="2A2A2A"/>
                </a:solidFill>
              </a:rPr>
              <a:t>Compare </a:t>
            </a:r>
            <a:r>
              <a:rPr sz="1700" b="1">
                <a:solidFill>
                  <a:srgbClr val="2A2A2A"/>
                </a:solidFill>
                <a:highlight>
                  <a:srgbClr val="FFFBCC"/>
                </a:highlight>
              </a:rPr>
              <a:t>four annotation-acquisition strategies</a:t>
            </a:r>
            <a:r>
              <a:rPr sz="1700" b="0">
                <a:solidFill>
                  <a:srgbClr val="2A2A2A"/>
                </a:solidFill>
              </a:rPr>
              <a:t> at the same label budget — un-prioritised hand-curation, warm-start AL, cold-start AL — to answer </a:t>
            </a:r>
            <a:r>
              <a:rPr sz="1700" b="1">
                <a:solidFill>
                  <a:srgbClr val="2A2A2A"/>
                </a:solidFill>
              </a:rPr>
              <a:t>does it matter how we collect the labels?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23560"/>
            <a:ext cx="91440" cy="457200"/>
          </a:xfrm>
          <a:prstGeom prst="rect">
            <a:avLst/>
          </a:prstGeom>
          <a:solidFill>
            <a:srgbClr val="1F2E55"/>
          </a:solidFill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" b="0">
                <a:solidFill>
                  <a:srgbClr val="2A2A2A"/>
                </a:solidFill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778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2E55"/>
                </a:solidFill>
              </a:rPr>
              <a:t>Research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8064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A2A2A"/>
                </a:solidFill>
              </a:rPr>
              <a:t>Can a small set of human-curated pairwise rankings improve a learned MAPF classifier beyond DDG's threshold — and does the strategy used to elicit those rankings matter?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1264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88888"/>
                </a:solidFill>
              </a:rPr>
              <a:t>[ Speaker: Sparsh · ~35s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</a:rPr>
              <a:t>HRI Final · Human-in-the-Loop Congestion Classification for MAPF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F2E55"/>
                </a:solidFill>
              </a:rPr>
              <a:t>Why it's hard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640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C0392B"/>
                </a:solidFill>
              </a:rPr>
              <a:t>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37160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A2A2A"/>
                </a:solidFill>
              </a:rPr>
              <a:t>The auto-label is anti-aligned with humans on hard cases.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965960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555555"/>
                </a:solidFill>
              </a:rPr>
              <a:t>23/52 (44%) of human-marked (worst, clean) pairs have diff(worst) ≤ diff(clean) — the auto pair points the wrong way.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640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C0392B"/>
                </a:solidFill>
              </a:rPr>
              <a:t>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92608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A2A2A"/>
                </a:solidFill>
              </a:rPr>
              <a:t>Naive integration cancels the gradient.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520440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555555"/>
                </a:solidFill>
              </a:rPr>
              <a:t>Appending human pairs alongside the contradicting auto twins makes them point in opposite directions — net signal lost.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80560"/>
            <a:ext cx="640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C0392B"/>
                </a:solidFill>
              </a:rPr>
              <a:t>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48056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A2A2A"/>
                </a:solidFill>
              </a:rPr>
              <a:t>Human time is the binding constraint.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5074920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555555"/>
                </a:solidFill>
              </a:rPr>
              <a:t>≈5 min/episode × 56 budget ≈ 5 hours of human attention. Every annotation has to count — selection strategy itself is part of the problem.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1264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88888"/>
                </a:solidFill>
              </a:rPr>
              <a:t>[ Speaker: Shane · ~30s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</a:rPr>
              <a:t>HRI Final · Human-in-the-Loop Congestion Classification for MAPF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F2E55"/>
                </a:solidFill>
              </a:rPr>
              <a:t>Key insight &amp;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669280" cy="201168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txBody>
          <a:bodyPr wrap="square" anchor="t" lIns="182880" rIns="182880" tIns="137160">
            <a:spAutoFit/>
          </a:bodyPr>
          <a:lstStyle/>
          <a:p>
            <a:pPr algn="l"/>
            <a:r>
              <a:rPr sz="1400" b="0">
                <a:solidFill>
                  <a:srgbClr val="2A2A2A"/>
                </a:solidFill>
              </a:rPr>
              <a:t/>
            </a:r>
            <a:r>
              <a:rPr sz="1300" b="1">
                <a:solidFill>
                  <a:srgbClr val="C0392B"/>
                </a:solidFill>
              </a:rPr>
              <a:t>Insight 1</a:t>
            </a:r>
          </a:p>
          <a:p>
            <a:pPr>
              <a:lnSpc>
                <a:spcPct val="120000"/>
              </a:lnSpc>
            </a:pPr>
            <a:r>
              <a:rPr sz="2000" b="1">
                <a:solidFill>
                  <a:srgbClr val="1F2E55"/>
                </a:solidFill>
              </a:rPr>
              <a:t>Override, don't augment.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2A2A2A"/>
                </a:solidFill>
              </a:rPr>
              <a:t>For each annotated episode, replace the auto-pair list entirely with the single human pair at weight 1.0. 39 train pairs ≈ 0.15% of gradient, but placed exactly on the cases auto fits wrong.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280160"/>
            <a:ext cx="5212080" cy="201168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txBody>
          <a:bodyPr wrap="square" anchor="t" lIns="182880" rIns="182880" tIns="137160">
            <a:spAutoFit/>
          </a:bodyPr>
          <a:lstStyle/>
          <a:p>
            <a:pPr algn="l"/>
            <a:r>
              <a:rPr sz="1400" b="0">
                <a:solidFill>
                  <a:srgbClr val="2A2A2A"/>
                </a:solidFill>
              </a:rPr>
              <a:t/>
            </a:r>
            <a:r>
              <a:rPr sz="1300" b="1">
                <a:solidFill>
                  <a:srgbClr val="C0392B"/>
                </a:solidFill>
              </a:rPr>
              <a:t>Insight 2</a:t>
            </a:r>
          </a:p>
          <a:p>
            <a:pPr>
              <a:lnSpc>
                <a:spcPct val="120000"/>
              </a:lnSpc>
            </a:pPr>
            <a:r>
              <a:rPr sz="2000" b="1">
                <a:solidFill>
                  <a:srgbClr val="1F2E55"/>
                </a:solidFill>
              </a:rPr>
              <a:t>Strategy of elicitation matters.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2A2A2A"/>
                </a:solidFill>
              </a:rPr>
              <a:t>Compare un-prioritised hand-curation vs uncertainty × diversity active learning vs pure-diversity AL — at the same label budget.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118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</a:rPr>
              <a:t>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A2A2A"/>
                </a:solidFill>
              </a:rPr>
              <a:t>• Small 3D CNN over a 16-step (4-channel × T × H × W) spatial-temporal volume → scalar segment score.
• RankNet pairwise loss on auto-pairs + Option-B human overrides.
• Replay tool: humans scrub each episode end-to-end, mark worst / clean / optional borderline.
• Pool-based active query with acquisition  H( σ(s_A − s_B) ) · ‖φ_A − φ_B‖  (uncertainty × diversity).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1264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88888"/>
                </a:solidFill>
              </a:rPr>
              <a:t>[ Speaker: Shane · ~35s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</a:rPr>
              <a:t>HRI Final · Human-in-the-Loop Congestion Classification for MAPF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E55"/>
                </a:solidFill>
              </a:rPr>
              <a:t>Results: hand-curation lifts every gold-label metric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55555"/>
                </a:solidFill>
              </a:rPr>
              <a:t>On the same 13 held-out human pairs · best checkpoint per stage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68580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E55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E55"/>
                          </a:solidFill>
                        </a:rPr>
                        <a:t>Stage 1 (auto only)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E55"/>
                          </a:solidFill>
                        </a:rPr>
                        <a:t>Stage 2 (+39 human)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E55"/>
                          </a:solidFill>
                        </a:rPr>
                        <a:t>Δ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A2A2A"/>
                          </a:solidFill>
                        </a:rPr>
                        <a:t>Pairwise (hp_v on 13)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A2A2A"/>
                          </a:solidFill>
                        </a:rPr>
                        <a:t>0.615  (8/13)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</a:rPr>
                        <a:t>0.846  (11/13)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</a:rPr>
                        <a:t>+0.231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A2A2A"/>
                          </a:solidFill>
                        </a:rPr>
                        <a:t>Exact-match (h-arg top-1)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A2A2A"/>
                          </a:solidFill>
                        </a:rPr>
                        <a:t>0.538  (7/13)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</a:rPr>
                        <a:t>0.615  (8/13)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</a:rPr>
                        <a:t>+0.077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A2A2A"/>
                          </a:solidFill>
                        </a:rPr>
                        <a:t>DDG argmax_pm1 (auto val maps)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A2A2A"/>
                          </a:solidFill>
                        </a:rPr>
                        <a:t>0.550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</a:rPr>
                        <a:t>0.541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</a:rPr>
                        <a:t>−0.009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A2A2A"/>
                          </a:solidFill>
                        </a:rPr>
                        <a:t>DDG top-3 (auto val maps)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A2A2A"/>
                          </a:solidFill>
                        </a:rPr>
                        <a:t>0.578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</a:rPr>
                        <a:t>0.559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</a:rPr>
                        <a:t>−0.019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comparison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554480"/>
            <a:ext cx="4297680" cy="9363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2062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0392B"/>
                </a:solidFill>
              </a:rPr>
              <a:t>Walk-away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800">
                <a:solidFill>
                  <a:srgbClr val="2A2A2A"/>
                </a:solidFill>
              </a:rPr>
              <a:t>• </a:t>
            </a:r>
            <a:r>
              <a:rPr sz="1800" b="1">
                <a:solidFill>
                  <a:srgbClr val="C0392B"/>
                </a:solidFill>
              </a:rPr>
              <a:t>+3 of 13 pairs</a:t>
            </a:r>
            <a:r>
              <a:rPr sz="1800" b="0">
                <a:solidFill>
                  <a:srgbClr val="2A2A2A"/>
                </a:solidFill>
              </a:rPr>
              <a:t> ranked correctly · </a:t>
            </a:r>
            <a:r>
              <a:rPr sz="1800" b="1">
                <a:solidFill>
                  <a:srgbClr val="C0392B"/>
                </a:solidFill>
              </a:rPr>
              <a:t>+1 of 13</a:t>
            </a:r>
            <a:r>
              <a:rPr sz="1800" b="0">
                <a:solidFill>
                  <a:srgbClr val="2A2A2A"/>
                </a:solidFill>
              </a:rPr>
              <a:t> worst-segments identified exactly.</a:t>
            </a:r>
          </a:p>
          <a:p>
            <a:pPr>
              <a:lnSpc>
                <a:spcPct val="125000"/>
              </a:lnSpc>
            </a:pPr>
            <a:r>
              <a:rPr sz="1800">
                <a:solidFill>
                  <a:srgbClr val="2A2A2A"/>
                </a:solidFill>
              </a:rPr>
              <a:t>• </a:t>
            </a:r>
            <a:r>
              <a:rPr sz="1800" b="1">
                <a:solidFill>
                  <a:srgbClr val="2A2A2A"/>
                </a:solidFill>
                <a:highlight>
                  <a:srgbClr val="FFFBCC"/>
                </a:highlight>
              </a:rPr>
              <a:t>No measurable cost</a:t>
            </a:r>
            <a:r>
              <a:rPr sz="1800" b="0">
                <a:solidFill>
                  <a:srgbClr val="2A2A2A"/>
                </a:solidFill>
              </a:rPr>
              <a:t> on auto-aligned ranking — both DDG metrics within 2 points.</a:t>
            </a:r>
          </a:p>
          <a:p>
            <a:pPr>
              <a:lnSpc>
                <a:spcPct val="125000"/>
              </a:lnSpc>
            </a:pPr>
            <a:r>
              <a:rPr sz="1800">
                <a:solidFill>
                  <a:srgbClr val="2A2A2A"/>
                </a:solidFill>
              </a:rPr>
              <a:t>• </a:t>
            </a:r>
            <a:r>
              <a:rPr sz="1800" b="0">
                <a:solidFill>
                  <a:srgbClr val="2A2A2A"/>
                </a:solidFill>
              </a:rPr>
              <a:t>Deployment-ready checkpoint: </a:t>
            </a:r>
            <a:r>
              <a:rPr sz="1600" b="1">
                <a:solidFill>
                  <a:srgbClr val="1F2E55"/>
                </a:solidFill>
              </a:rPr>
              <a:t>with_human_labels.human_argmax_top1.pt</a:t>
            </a:r>
            <a:r>
              <a:rPr sz="1800" b="0">
                <a:solidFill>
                  <a:srgbClr val="2A2A2A"/>
                </a:solidFill>
              </a:rPr>
              <a:t> (best across all 4 save criteria).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1264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88888"/>
                </a:solidFill>
              </a:rPr>
              <a:t>[ Speaker: Isabel · ~45s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</a:rPr>
              <a:t>HRI Final · Human-in-the-Loop Congestion Classification for MAPF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E55"/>
                </a:solidFill>
              </a:rPr>
              <a:t>Active-learning extension — strategy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Same trainer, same data, same ~56-label budget — only the acquisition strategy differs.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E55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E55"/>
                          </a:solidFill>
                        </a:rPr>
                        <a:t>Stage 1
(auto only)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E55"/>
                          </a:solidFill>
                        </a:rPr>
                        <a:t>Stage 2
(un-prioritised hand)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E55"/>
                          </a:solidFill>
                        </a:rPr>
                        <a:t>Stage 3
(warm-start AL)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E55"/>
                          </a:solidFill>
                        </a:rPr>
                        <a:t>Stage 4
(cold-start AL)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2A2A"/>
                          </a:solidFill>
                        </a:rPr>
                        <a:t>Acquisition rule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2A2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2A2A"/>
                          </a:solidFill>
                        </a:rPr>
                        <a:t>annotator coverage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2A2A"/>
                          </a:solidFill>
                        </a:rPr>
                        <a:t>uncertainty × diversity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2A2A"/>
                          </a:solidFill>
                        </a:rPr>
                        <a:t>pure feature diversity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2A2A"/>
                          </a:solidFill>
                        </a:rPr>
                        <a:t>Pairwise (hp_v on 13)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2A2A"/>
                          </a:solidFill>
                        </a:rPr>
                        <a:t>0.615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2A2A"/>
                          </a:solidFill>
                        </a:rPr>
                        <a:t>0.846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2A2A"/>
                          </a:solidFill>
                        </a:rPr>
                        <a:t>[PENDING]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2A2A"/>
                          </a:solidFill>
                        </a:rPr>
                        <a:t>[PENDING]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2A2A"/>
                          </a:solidFill>
                        </a:rPr>
                        <a:t>Exact-match (h-arg top-1, 13)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2A2A"/>
                          </a:solidFill>
                        </a:rPr>
                        <a:t>0.538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2A2A"/>
                          </a:solidFill>
                        </a:rPr>
                        <a:t>0.615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2A2A"/>
                          </a:solidFill>
                        </a:rPr>
                        <a:t>[PENDING]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2A2A"/>
                          </a:solidFill>
                        </a:rPr>
                        <a:t>[PENDING]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2A2A"/>
                          </a:solidFill>
                        </a:rPr>
                        <a:t>DDG argmax_pm1 (auto val)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2A2A"/>
                          </a:solidFill>
                        </a:rPr>
                        <a:t>0.550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2A2A"/>
                          </a:solidFill>
                        </a:rPr>
                        <a:t>0.541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2A2A"/>
                          </a:solidFill>
                        </a:rPr>
                        <a:t>[PENDING]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2A2A"/>
                          </a:solidFill>
                        </a:rPr>
                        <a:t>[PENDING]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2A2A"/>
                          </a:solidFill>
                        </a:rPr>
                        <a:t>DDG top-3 (auto val)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2A2A"/>
                          </a:solidFill>
                        </a:rPr>
                        <a:t>0.578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2A2A"/>
                          </a:solidFill>
                        </a:rPr>
                        <a:t>0.559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2A2A"/>
                          </a:solidFill>
                        </a:rPr>
                        <a:t>[PENDING]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2A2A"/>
                          </a:solidFill>
                        </a:rPr>
                        <a:t>[PENDING]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2A2A"/>
                          </a:solidFill>
                        </a:rPr>
                        <a:t>Annotator hours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2A2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2A2A"/>
                          </a:solidFill>
                        </a:rPr>
                        <a:t>≈3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2A2A"/>
                          </a:solidFill>
                        </a:rPr>
                        <a:t>≈3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2A2A"/>
                          </a:solidFill>
                        </a:rPr>
                        <a:t>≈3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2A2A"/>
                          </a:solidFill>
                        </a:rPr>
                        <a:t>Distinct episodes labelled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2A2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2A2A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2A2A"/>
                          </a:solidFill>
                        </a:rPr>
                        <a:t>≤28 (cap)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A2A2A"/>
                          </a:solidFill>
                        </a:rPr>
                        <a:t>≤28 (cap)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43484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</a:rPr>
              <a:t>How to read it once Stages 3 &amp; 4 land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80060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500">
                <a:solidFill>
                  <a:srgbClr val="2A2A2A"/>
                </a:solidFill>
              </a:rPr>
              <a:t>• </a:t>
            </a:r>
            <a:r>
              <a:rPr sz="1500" b="1">
                <a:solidFill>
                  <a:srgbClr val="2A2A2A"/>
                </a:solidFill>
              </a:rPr>
              <a:t>Stage 3 ≫ Stage 2  →  </a:t>
            </a:r>
            <a:r>
              <a:rPr sz="1500" b="0">
                <a:solidFill>
                  <a:srgbClr val="2A2A2A"/>
                </a:solidFill>
              </a:rPr>
              <a:t>uncertainty-driven AL beats un-prioritised hand-curation; engineering investment pays off.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2A2A2A"/>
                </a:solidFill>
              </a:rPr>
              <a:t>• </a:t>
            </a:r>
            <a:r>
              <a:rPr sz="1500" b="1">
                <a:solidFill>
                  <a:srgbClr val="2A2A2A"/>
                </a:solidFill>
              </a:rPr>
              <a:t>Stage 3 ≈ Stage 4  →  </a:t>
            </a:r>
            <a:r>
              <a:rPr sz="1500" b="0">
                <a:solidFill>
                  <a:srgbClr val="2A2A2A"/>
                </a:solidFill>
              </a:rPr>
              <a:t>diversity alone explains the lift; a much simpler heuristic is the better default.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2A2A2A"/>
                </a:solidFill>
              </a:rPr>
              <a:t>• </a:t>
            </a:r>
            <a:r>
              <a:rPr sz="1500" b="1">
                <a:solidFill>
                  <a:srgbClr val="2A2A2A"/>
                </a:solidFill>
              </a:rPr>
              <a:t>Stages 3, 4 ≈ Stage 2  →  </a:t>
            </a:r>
            <a:r>
              <a:rPr sz="1500" b="0">
                <a:solidFill>
                  <a:srgbClr val="2A2A2A"/>
                </a:solidFill>
              </a:rPr>
              <a:t>selection strategy matters less than just having human signal at 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1264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88888"/>
                </a:solidFill>
              </a:rPr>
              <a:t>[ Speaker: Isabel · ~35s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</a:rPr>
              <a:t>HRI Final · Human-in-the-Loop Congestion Classification for MAPF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F2E55"/>
                </a:solidFill>
              </a:rPr>
              <a:t>Conclusion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0392B"/>
                </a:solidFill>
              </a:rPr>
              <a:t>Walk-aways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900">
                <a:solidFill>
                  <a:srgbClr val="2A2A2A"/>
                </a:solidFill>
              </a:rPr>
              <a:t>• </a:t>
            </a:r>
            <a:r>
              <a:rPr sz="1900" b="0">
                <a:solidFill>
                  <a:srgbClr val="2A2A2A"/>
                </a:solidFill>
              </a:rPr>
              <a:t>39 human pairs (≈0.15% of gradient) → </a:t>
            </a:r>
            <a:r>
              <a:rPr sz="1900" b="1">
                <a:solidFill>
                  <a:srgbClr val="C0392B"/>
                </a:solidFill>
              </a:rPr>
              <a:t>+23 pp pairwise / +8 pp exact-match</a:t>
            </a:r>
            <a:r>
              <a:rPr sz="1900" b="0">
                <a:solidFill>
                  <a:srgbClr val="2A2A2A"/>
                </a:solidFill>
              </a:rPr>
              <a:t> human alignment, no DDG cost.</a:t>
            </a:r>
          </a:p>
          <a:p>
            <a:pPr>
              <a:lnSpc>
                <a:spcPct val="125000"/>
              </a:lnSpc>
            </a:pPr>
            <a:r>
              <a:rPr sz="1900">
                <a:solidFill>
                  <a:srgbClr val="2A2A2A"/>
                </a:solidFill>
              </a:rPr>
              <a:t>• </a:t>
            </a:r>
            <a:r>
              <a:rPr sz="1900" b="0">
                <a:solidFill>
                  <a:srgbClr val="2A2A2A"/>
                </a:solidFill>
              </a:rPr>
              <a:t>The </a:t>
            </a:r>
            <a:r>
              <a:rPr sz="1900" b="1">
                <a:solidFill>
                  <a:srgbClr val="2A2A2A"/>
                </a:solidFill>
              </a:rPr>
              <a:t>save-best criterion</a:t>
            </a:r>
            <a:r>
              <a:rPr sz="1900" b="0">
                <a:solidFill>
                  <a:srgbClr val="2A2A2A"/>
                </a:solidFill>
              </a:rPr>
              <a:t> is itself a deployment choice — 4 saved checkpoints differ by 31 pp on top-1 metric.</a:t>
            </a:r>
          </a:p>
          <a:p>
            <a:pPr>
              <a:lnSpc>
                <a:spcPct val="125000"/>
              </a:lnSpc>
            </a:pPr>
            <a:r>
              <a:rPr sz="1900">
                <a:solidFill>
                  <a:srgbClr val="2A2A2A"/>
                </a:solidFill>
              </a:rPr>
              <a:t>• </a:t>
            </a:r>
            <a:r>
              <a:rPr sz="1900" b="0">
                <a:solidFill>
                  <a:srgbClr val="2A2A2A"/>
                </a:solidFill>
              </a:rPr>
              <a:t>The </a:t>
            </a:r>
            <a:r>
              <a:rPr sz="1900" b="1">
                <a:solidFill>
                  <a:srgbClr val="2A2A2A"/>
                </a:solidFill>
                <a:highlight>
                  <a:srgbClr val="FFFBCC"/>
                </a:highlight>
              </a:rPr>
              <a:t>acquisition-strategy comparison</a:t>
            </a:r>
            <a:r>
              <a:rPr sz="1900" b="0">
                <a:solidFill>
                  <a:srgbClr val="2A2A2A"/>
                </a:solidFill>
              </a:rPr>
              <a:t> (Stages 1–4 at fixed budget) is the contribution that adds depth.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3192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0392B"/>
                </a:solidFill>
              </a:rPr>
              <a:t>Honest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700">
                <a:solidFill>
                  <a:srgbClr val="555555"/>
                </a:solidFill>
              </a:rPr>
              <a:t>• Run-to-run variance is large: hp_val swung 0.615 ↔ 0.846 across two reseeds. Multi-seed averaging is the obvious follow-up.</a:t>
            </a:r>
          </a:p>
          <a:p>
            <a:pPr>
              <a:lnSpc>
                <a:spcPct val="125000"/>
              </a:lnSpc>
            </a:pPr>
            <a:r>
              <a:rPr sz="1700">
                <a:solidFill>
                  <a:srgbClr val="555555"/>
                </a:solidFill>
              </a:rPr>
              <a:t>• Stages 3 &amp; 4 single-seed at submission time.</a:t>
            </a:r>
          </a:p>
          <a:p>
            <a:pPr>
              <a:lnSpc>
                <a:spcPct val="125000"/>
              </a:lnSpc>
            </a:pPr>
            <a:r>
              <a:rPr sz="1700">
                <a:solidFill>
                  <a:srgbClr val="555555"/>
                </a:solidFill>
              </a:rPr>
              <a:t>• No downstream MAPF-GPT impact study yet — does using this classifier in DDG actually train a better policy on POGEMA? The most consequential open question.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1264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88888"/>
                </a:solidFill>
              </a:rPr>
              <a:t>[ Speaker: Isabel · ~25s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</a:rPr>
              <a:t>HRI Final · Human-in-the-Loop Congestion Classification for MAPF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</a:rPr>
              <a:t>8 /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E55"/>
                </a:solidFill>
              </a:rPr>
              <a:t>Backup A — auto-label disagreement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How the 52 valid annotations relate to the auto-pair ordering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737360"/>
          <a:ext cx="94183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9160"/>
                <a:gridCol w="47091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E55"/>
                          </a:solidFill>
                        </a:rPr>
                        <a:t>Relationship to auto-diff ordering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E55"/>
                          </a:solidFill>
                        </a:rPr>
                        <a:t>Count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A2A2A"/>
                          </a:solidFill>
                        </a:rPr>
                        <a:t>Human pair contradicts auto-diff (diff(worst) ≤ diff(clean))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A2A2A"/>
                          </a:solidFill>
                        </a:rPr>
                        <a:t>Human pair upgrades an auto 0.5-weight pair to 1.0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A2A2A"/>
                          </a:solidFill>
                        </a:rPr>
                        <a:t>Human pair creates a new pair (both segments same bucket)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A2A2A"/>
                          </a:solidFill>
                        </a:rPr>
                        <a:t>Human pair confirms an existing 1.0 auto pair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297680"/>
            <a:ext cx="11064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A2A2A"/>
                </a:solidFill>
              </a:rPr>
              <a:t>44% contradiction rate is stable to ±2 points across two independent annotation batches (12/26 in batch 1, 23/52 across both) — this is a property of the auto-label, not annotator noise.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E55"/>
                </a:solidFill>
              </a:rPr>
              <a:t>Backup B — save-best criterion grid (Stage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Same training run, four saved checkpoints — performance on the 13 val pairs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E55"/>
                          </a:solidFill>
                        </a:rPr>
                        <a:t>Stage 2 ckpt (saved by)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E55"/>
                          </a:solidFill>
                        </a:rPr>
                        <a:t>hp_v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E55"/>
                          </a:solidFill>
                        </a:rPr>
                        <a:t>h-arg top-1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E55"/>
                          </a:solidFill>
                        </a:rPr>
                        <a:t>h-arg ±1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E55"/>
                          </a:solidFill>
                        </a:rPr>
                        <a:t>argmax_pm1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A2A2A"/>
                          </a:solidFill>
                        </a:rPr>
                        <a:t>best hp_v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A2A2A"/>
                          </a:solidFill>
                        </a:rPr>
                        <a:t>0.846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A2A2A"/>
                          </a:solidFill>
                        </a:rPr>
                        <a:t>0.538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A2A2A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A2A2A"/>
                          </a:solidFill>
                        </a:rPr>
                        <a:t>0.474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A2A2A"/>
                          </a:solidFill>
                        </a:rPr>
                        <a:t>best argmax_pm1 (DDG-aligned)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A2A2A"/>
                          </a:solidFill>
                        </a:rPr>
                        <a:t>0.615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A2A2A"/>
                          </a:solidFill>
                        </a:rPr>
                        <a:t>0.308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A2A2A"/>
                          </a:solidFill>
                        </a:rPr>
                        <a:t>0.846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A2A2A"/>
                          </a:solidFill>
                        </a:rPr>
                        <a:t>0.541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A2A2A"/>
                          </a:solidFill>
                        </a:rPr>
                        <a:t>best h-arg ±1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A2A2A"/>
                          </a:solidFill>
                        </a:rPr>
                        <a:t>0.846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A2A2A"/>
                          </a:solidFill>
                        </a:rPr>
                        <a:t>0.538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A2A2A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A2A2A"/>
                          </a:solidFill>
                        </a:rPr>
                        <a:t>0.474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A2A2A"/>
                          </a:solidFill>
                        </a:rPr>
                        <a:t>best h-arg top-1  ★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A2A2A"/>
                          </a:solidFill>
                        </a:rPr>
                        <a:t>0.846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A2A2A"/>
                          </a:solidFill>
                        </a:rPr>
                        <a:t>0.615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A2A2A"/>
                          </a:solidFill>
                        </a:rPr>
                        <a:t>0.923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A2A2A"/>
                          </a:solidFill>
                        </a:rPr>
                        <a:t>0.514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297680"/>
            <a:ext cx="11064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A2A2A"/>
                </a:solidFill>
              </a:rPr>
              <a:t>Deploy the bottom row (★): best deployment-shape metric (h-arg top-1 = 0.615), ties for best pairwise (0.846), only −0.036 on auto top-1±1 vs pure-DDG-aligned ckpt.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