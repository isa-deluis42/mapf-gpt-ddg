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ags/tag2.xml" ContentType="application/vnd.openxmlformats-officedocument.presentationml.tag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6" r:id="rId8"/>
    <p:sldId id="262" r:id="rId9"/>
    <p:sldId id="263" r:id="rId10"/>
    <p:sldId id="267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709983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[ALL] Brief intros (Sparsh, Shane, Isabel) — keep under 10 seconds. Then hand to Sparsh.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[Sparsh, ~30s] Open with the warehouse / delivery framing. Make the HRI angle explicit — currently zero humans in the loop. End by motivating why human judgement could plausibly help.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[Sparsh, ~35s] This is the load-bearing motivation slide. Walk down the four rows: each prior approach has a clear limit, and our work explicitly targets DDG's gap. Pause on row 3 (44% threshold-wrong number — already lands as a punchline). Then read the 'what we add' bullets — these set up the rest of the talk. End with the RQ verbatim. The audience should walk out of THIS slide knowing what we built and why it's a contribution.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[Shane, ~30s] Three open challenges. The 44% number is the empirical hook — say it slowly. Frame challenge 3 as motivating the AL extension we discuss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[Shane, ~35s] Two boxed insights side-by-side. Linger on 'override, don't augment' — this is the one technical idea the whole project hangs on. The acquisition formula doesn't need to be read aloud; the audience just needs to register that there 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[Isabel, ~45s] Lead with the top two table rows — those are the headline. Then point at the figure: same data, different views. End on the walk-away: NO auto cost. That sells the override-don't-augment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[Isabel, ~35s] This is the slide that frames our depth contribution. Walk down the columns — Stages 3 and 4 share the same 56-label budget as Stage 2 and only the acquisition rule differs. Stages 3 &amp; 4 are still being collected, but the framework itself is the contribution: any ordering of the [PENDING] cells answers a substantive AL-design question. Once we have the numbers, we can update this single slide in PowerPoint and the whole story crystallises.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[Isabel, ~25s] Three walk-aways, three honest limitations. Don't oversell — the audience respects the variance disclosure. Land softly to invite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363F8E93-E55D-150F-F1E2-064F15495EEA}"/>
              </a:ext>
            </a:extLst>
          </p:cNvPr>
          <p:cNvGraphicFramePr>
            <a:graphicFrameLocks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409925553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4" imgW="7772400" imgH="10058400" progId="TCLayout.ActiveDocument.1">
                  <p:embed/>
                </p:oleObj>
              </mc:Choice>
              <mc:Fallback>
                <p:oleObj name="think-cell Slide" r:id="rId14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.xml"/><Relationship Id="rId4" Type="http://schemas.openxmlformats.org/officeDocument/2006/relationships/image" Target="../media/image2.emf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828800"/>
            <a:ext cx="110642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1F2E55"/>
                </a:solidFill>
              </a:rPr>
              <a:t>Human-in-the-Loop Congestion Classification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8892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1F2E55"/>
                </a:solidFill>
              </a:rPr>
              <a:t>for Multi-Agent Pathfinding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555555"/>
                </a:solidFill>
              </a:rPr>
              <a:t>Replacing DDG's hand-tuned threshold with learned, human-aligned segment ranking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A2A2A"/>
                </a:solidFill>
              </a:rPr>
              <a:t>Shane Pornprinya  ·  Isabel De Luis  ·  Sparsh Bansal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394960"/>
            <a:ext cx="1106424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600" b="0" dirty="0">
                <a:solidFill>
                  <a:srgbClr val="555555"/>
                </a:solidFill>
              </a:rPr>
              <a:t>Algorithmic </a:t>
            </a:r>
            <a:r>
              <a:rPr sz="1600" b="0" dirty="0">
                <a:solidFill>
                  <a:srgbClr val="555555"/>
                </a:solidFill>
              </a:rPr>
              <a:t>Human-Robot Interaction  ·  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</a:rPr>
              <a:t>HRI Final · Human-in-the-Loop Congestion Classification for MAPF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</a:rP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F2E55"/>
                </a:solidFill>
              </a:rPr>
              <a:t>Motivation: where MAPF policies 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2756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2000" dirty="0">
                <a:solidFill>
                  <a:srgbClr val="2A2A2A"/>
                </a:solidFill>
              </a:rPr>
              <a:t>• </a:t>
            </a:r>
            <a:r>
              <a:rPr sz="2000" b="0" dirty="0">
                <a:solidFill>
                  <a:srgbClr val="2A2A2A"/>
                </a:solidFill>
              </a:rPr>
              <a:t>Multi-agent pathfinding (MAPF) coordinates teams of robots in shared spaces</a:t>
            </a:r>
            <a:r>
              <a:rPr lang="en-US" sz="2000" b="0" dirty="0">
                <a:solidFill>
                  <a:srgbClr val="2A2A2A"/>
                </a:solidFill>
              </a:rPr>
              <a:t>:</a:t>
            </a:r>
            <a:r>
              <a:rPr sz="2000" b="0" dirty="0">
                <a:solidFill>
                  <a:srgbClr val="2A2A2A"/>
                </a:solidFill>
              </a:rPr>
              <a:t> </a:t>
            </a:r>
            <a:r>
              <a:rPr sz="2000" b="1" dirty="0">
                <a:solidFill>
                  <a:srgbClr val="2A2A2A"/>
                </a:solidFill>
              </a:rPr>
              <a:t>warehouses, delivery, search-and-rescue</a:t>
            </a:r>
          </a:p>
          <a:p>
            <a:pPr>
              <a:lnSpc>
                <a:spcPct val="125000"/>
              </a:lnSpc>
            </a:pPr>
            <a:r>
              <a:rPr sz="2000" dirty="0">
                <a:solidFill>
                  <a:srgbClr val="2A2A2A"/>
                </a:solidFill>
              </a:rPr>
              <a:t>• </a:t>
            </a:r>
            <a:r>
              <a:rPr sz="2000" b="0" dirty="0">
                <a:solidFill>
                  <a:srgbClr val="2A2A2A"/>
                </a:solidFill>
              </a:rPr>
              <a:t>State-of-the-art: </a:t>
            </a:r>
            <a:r>
              <a:rPr sz="2000" b="1" dirty="0">
                <a:solidFill>
                  <a:srgbClr val="1F2E55"/>
                </a:solidFill>
              </a:rPr>
              <a:t>MAPF-GPT</a:t>
            </a:r>
            <a:r>
              <a:rPr sz="2000" b="0" dirty="0">
                <a:solidFill>
                  <a:srgbClr val="2A2A2A"/>
                </a:solidFill>
              </a:rPr>
              <a:t>, a transformer policy imitation-trained on solver demos. Cheap at inference; brittle on the long tail.</a:t>
            </a:r>
          </a:p>
          <a:p>
            <a:pPr>
              <a:lnSpc>
                <a:spcPct val="125000"/>
              </a:lnSpc>
            </a:pPr>
            <a:r>
              <a:rPr sz="2000" dirty="0">
                <a:solidFill>
                  <a:srgbClr val="2A2A2A"/>
                </a:solidFill>
              </a:rPr>
              <a:t>• </a:t>
            </a:r>
            <a:r>
              <a:rPr sz="2000" b="0" dirty="0">
                <a:solidFill>
                  <a:srgbClr val="2A2A2A"/>
                </a:solidFill>
              </a:rPr>
              <a:t>Failure mode: </a:t>
            </a:r>
            <a:r>
              <a:rPr sz="2000" b="1" dirty="0">
                <a:solidFill>
                  <a:srgbClr val="2A2A2A"/>
                </a:solidFill>
              </a:rPr>
              <a:t>congestion</a:t>
            </a:r>
            <a:r>
              <a:rPr sz="2000" b="0" dirty="0">
                <a:solidFill>
                  <a:srgbClr val="2A2A2A"/>
                </a:solidFill>
              </a:rPr>
              <a:t> </a:t>
            </a:r>
            <a:r>
              <a:rPr lang="en-US" sz="2000" b="0" dirty="0">
                <a:solidFill>
                  <a:srgbClr val="2A2A2A"/>
                </a:solidFill>
              </a:rPr>
              <a:t>as</a:t>
            </a:r>
            <a:r>
              <a:rPr sz="2000" b="0" dirty="0">
                <a:solidFill>
                  <a:srgbClr val="2A2A2A"/>
                </a:solidFill>
              </a:rPr>
              <a:t> agents bunched at corridor pinch-points, deadlocks, swap conflicts.</a:t>
            </a:r>
          </a:p>
          <a:p>
            <a:pPr>
              <a:lnSpc>
                <a:spcPct val="125000"/>
              </a:lnSpc>
            </a:pPr>
            <a:r>
              <a:rPr sz="2000" dirty="0">
                <a:solidFill>
                  <a:srgbClr val="2A2A2A"/>
                </a:solidFill>
              </a:rPr>
              <a:t>• </a:t>
            </a:r>
            <a:r>
              <a:rPr sz="2000" b="0" dirty="0">
                <a:solidFill>
                  <a:srgbClr val="2A2A2A"/>
                </a:solidFill>
              </a:rPr>
              <a:t>The HRI question: </a:t>
            </a:r>
            <a:r>
              <a:rPr sz="2000" b="1" dirty="0">
                <a:solidFill>
                  <a:srgbClr val="2A2A2A"/>
                </a:solidFill>
              </a:rPr>
              <a:t>currently there is no human in this loop.</a:t>
            </a:r>
            <a:r>
              <a:rPr sz="2000" b="0" dirty="0">
                <a:solidFill>
                  <a:srgbClr val="2A2A2A"/>
                </a:solidFill>
              </a:rPr>
              <a:t> The policy trains on solver demos and is refined by a hand-tuned threshold. </a:t>
            </a:r>
            <a:r>
              <a:rPr lang="en-US" sz="2000" b="0" dirty="0">
                <a:solidFill>
                  <a:srgbClr val="2A2A2A"/>
                </a:solidFill>
              </a:rPr>
              <a:t>Could</a:t>
            </a:r>
            <a:r>
              <a:rPr sz="2000" b="0" dirty="0">
                <a:solidFill>
                  <a:srgbClr val="2A2A2A"/>
                </a:solidFill>
              </a:rPr>
              <a:t> human judgement help?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</a:rPr>
              <a:t>HRI Final · Human-in-the-Loop Congestion Classification for MAPF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800" b="1" dirty="0">
                <a:solidFill>
                  <a:srgbClr val="1F2E55"/>
                </a:solidFill>
              </a:rPr>
              <a:t>Prior work and</a:t>
            </a:r>
            <a:r>
              <a:rPr sz="2800" b="1" dirty="0">
                <a:solidFill>
                  <a:srgbClr val="1F2E55"/>
                </a:solidFill>
              </a:rPr>
              <a:t> </a:t>
            </a:r>
            <a:r>
              <a:rPr lang="en-US" sz="2800" b="1" dirty="0">
                <a:solidFill>
                  <a:srgbClr val="1F2E55"/>
                </a:solidFill>
              </a:rPr>
              <a:t>our contribution</a:t>
            </a:r>
            <a:endParaRPr sz="2800" b="1" dirty="0">
              <a:solidFill>
                <a:srgbClr val="1F2E55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Each prior approach leaves a gap that motivates the next.  Our work targets the gap left by DDG.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3050394"/>
              </p:ext>
            </p:extLst>
          </p:nvPr>
        </p:nvGraphicFramePr>
        <p:xfrm>
          <a:off x="548640" y="1554480"/>
          <a:ext cx="110642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83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51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267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278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2E55"/>
                          </a:solidFill>
                        </a:rPr>
                        <a:t>Approach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2E55"/>
                          </a:solidFill>
                        </a:rPr>
                        <a:t>What it does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2E55"/>
                          </a:solidFill>
                        </a:rPr>
                        <a:t>Human in loop?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dirty="0">
                          <a:solidFill>
                            <a:srgbClr val="1F2E55"/>
                          </a:solidFill>
                        </a:rPr>
                        <a:t>Limit</a:t>
                      </a:r>
                      <a:r>
                        <a:rPr lang="en-US" sz="1300" b="1" dirty="0">
                          <a:solidFill>
                            <a:srgbClr val="1F2E55"/>
                          </a:solidFill>
                        </a:rPr>
                        <a:t>ations</a:t>
                      </a:r>
                      <a:endParaRPr sz="1300" b="1" dirty="0">
                        <a:solidFill>
                          <a:srgbClr val="1F2E55"/>
                        </a:solidFill>
                      </a:endParaRPr>
                    </a:p>
                  </a:txBody>
                  <a:tcPr>
                    <a:solidFill>
                      <a:srgbClr val="E8EE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MAPF-GPT  [Andreychuk '24]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Imitation-learn a transformer from offline LaCAM demos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Long-tail congested cases under-represented in demos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DAgger  [Ross '11]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Iteratively roll the policy, expert-relabel every visited state, retrain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No (expert = solver)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2A2A2A"/>
                          </a:solidFill>
                        </a:rPr>
                        <a:t>Uniform expert calls per state</a:t>
                      </a:r>
                      <a:r>
                        <a:rPr lang="en-US" sz="1200" dirty="0">
                          <a:solidFill>
                            <a:srgbClr val="2A2A2A"/>
                          </a:solidFill>
                        </a:rPr>
                        <a:t>, making it</a:t>
                      </a:r>
                      <a:r>
                        <a:rPr sz="1200" dirty="0">
                          <a:solidFill>
                            <a:srgbClr val="2A2A2A"/>
                          </a:solidFill>
                        </a:rPr>
                        <a:t> expensive at scale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Original DDG  [Andreychuk '25]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Threshold-gated DAgger: invoke expert only when max_diff &gt;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2A2A2A"/>
                          </a:solidFill>
                        </a:rPr>
                        <a:t>Threshold wrong on 44% of borderline cases; midrange discarded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★  Our work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Learned classifier + human override + acquisition-strategy comparison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2A2A2A"/>
                          </a:solidFill>
                        </a:rPr>
                        <a:t>Yes (replay tool)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2A2A2A"/>
                          </a:solidFill>
                        </a:rPr>
                        <a:t>(FILL</a:t>
                      </a:r>
                      <a:r>
                        <a:rPr sz="1200" dirty="0">
                          <a:solidFill>
                            <a:srgbClr val="2A2A2A"/>
                          </a:solidFill>
                        </a:rPr>
                        <a:t>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419856"/>
            <a:ext cx="146304" cy="5486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wrap="square" anchor="t">
            <a:spAutoFit/>
          </a:bodyPr>
          <a:lstStyle/>
          <a:p>
            <a:pPr algn="l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416052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0392B"/>
                </a:solidFill>
              </a:rPr>
              <a:t>What we add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26280"/>
            <a:ext cx="11064240" cy="10491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700" dirty="0">
                <a:solidFill>
                  <a:srgbClr val="2A2A2A"/>
                </a:solidFill>
              </a:rPr>
              <a:t>• </a:t>
            </a:r>
            <a:r>
              <a:rPr sz="1700" b="0" dirty="0">
                <a:solidFill>
                  <a:srgbClr val="2A2A2A"/>
                </a:solidFill>
              </a:rPr>
              <a:t>Replace DDG's hand-tuned threshold with a </a:t>
            </a:r>
            <a:r>
              <a:rPr sz="1700" b="1" dirty="0">
                <a:solidFill>
                  <a:srgbClr val="1F2E55"/>
                </a:solidFill>
              </a:rPr>
              <a:t>learned segment-ranking classifier</a:t>
            </a:r>
            <a:r>
              <a:rPr sz="1700" b="0" dirty="0">
                <a:solidFill>
                  <a:srgbClr val="2A2A2A"/>
                </a:solidFill>
              </a:rPr>
              <a:t> trained with human pairwise verdicts.</a:t>
            </a:r>
          </a:p>
          <a:p>
            <a:pPr>
              <a:lnSpc>
                <a:spcPct val="125000"/>
              </a:lnSpc>
            </a:pPr>
            <a:r>
              <a:rPr sz="1700" dirty="0">
                <a:solidFill>
                  <a:srgbClr val="2A2A2A"/>
                </a:solidFill>
              </a:rPr>
              <a:t>• </a:t>
            </a:r>
            <a:r>
              <a:rPr sz="1700" b="0" dirty="0">
                <a:solidFill>
                  <a:srgbClr val="2A2A2A"/>
                </a:solidFill>
              </a:rPr>
              <a:t>Compare </a:t>
            </a:r>
            <a:r>
              <a:rPr sz="1700" b="1" dirty="0">
                <a:solidFill>
                  <a:srgbClr val="2A2A2A"/>
                </a:solidFill>
              </a:rPr>
              <a:t>four annotation-acquisition strategies</a:t>
            </a:r>
            <a:r>
              <a:rPr sz="1700" b="0" dirty="0">
                <a:solidFill>
                  <a:srgbClr val="2A2A2A"/>
                </a:solidFill>
              </a:rPr>
              <a:t> at the same label budget</a:t>
            </a:r>
            <a:r>
              <a:rPr lang="en-US" sz="1700" b="0" dirty="0">
                <a:solidFill>
                  <a:srgbClr val="2A2A2A"/>
                </a:solidFill>
              </a:rPr>
              <a:t>:</a:t>
            </a:r>
            <a:r>
              <a:rPr sz="1700" b="0" dirty="0">
                <a:solidFill>
                  <a:srgbClr val="2A2A2A"/>
                </a:solidFill>
              </a:rPr>
              <a:t> un-</a:t>
            </a:r>
            <a:r>
              <a:rPr sz="1700" b="0" dirty="0" err="1">
                <a:solidFill>
                  <a:srgbClr val="2A2A2A"/>
                </a:solidFill>
              </a:rPr>
              <a:t>prioritised</a:t>
            </a:r>
            <a:r>
              <a:rPr sz="1700" b="0" dirty="0">
                <a:solidFill>
                  <a:srgbClr val="2A2A2A"/>
                </a:solidFill>
              </a:rPr>
              <a:t> hand-curation, warm-start AL, cold-start AL</a:t>
            </a:r>
            <a:r>
              <a:rPr lang="en-US" sz="1700" b="0" dirty="0">
                <a:solidFill>
                  <a:srgbClr val="2A2A2A"/>
                </a:solidFill>
              </a:rPr>
              <a:t>,</a:t>
            </a:r>
            <a:r>
              <a:rPr sz="1700" b="0" dirty="0">
                <a:solidFill>
                  <a:srgbClr val="2A2A2A"/>
                </a:solidFill>
              </a:rPr>
              <a:t> to answer </a:t>
            </a:r>
            <a:r>
              <a:rPr sz="1700" b="1" dirty="0">
                <a:solidFill>
                  <a:srgbClr val="2A2A2A"/>
                </a:solidFill>
              </a:rPr>
              <a:t>does it matter how we collect the labels?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623560"/>
            <a:ext cx="91440" cy="457200"/>
          </a:xfrm>
          <a:prstGeom prst="rect">
            <a:avLst/>
          </a:prstGeom>
          <a:solidFill>
            <a:srgbClr val="1F2E55"/>
          </a:solidFill>
          <a:ln>
            <a:noFill/>
          </a:ln>
        </p:spPr>
        <p:txBody>
          <a:bodyPr wrap="square" anchor="t">
            <a:spAutoFit/>
          </a:bodyPr>
          <a:lstStyle/>
          <a:p>
            <a:pPr algn="l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5778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E55"/>
                </a:solidFill>
              </a:rPr>
              <a:t>Research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806440"/>
            <a:ext cx="10515600" cy="5539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dirty="0">
                <a:solidFill>
                  <a:srgbClr val="2A2A2A"/>
                </a:solidFill>
              </a:rPr>
              <a:t>Can a small set of human-curated pairwise rankings improve a learned MAPF classifier beyond DDG's threshold and does the strategy used to elicit those rankings matter?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</a:rPr>
              <a:t>HRI Final · Human-in-the-Loop Congestion Classification for MAPF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F2E55"/>
                </a:solidFill>
              </a:rPr>
              <a:t>Why it's hard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640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C0392B"/>
                </a:solidFill>
              </a:rPr>
              <a:t>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37160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2A2A2A"/>
                </a:solidFill>
              </a:rPr>
              <a:t>The auto-label is anti-aligned with humans on hard cases.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965960"/>
            <a:ext cx="10424160" cy="3539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dirty="0">
                <a:solidFill>
                  <a:srgbClr val="555555"/>
                </a:solidFill>
              </a:rPr>
              <a:t>23/52 (44%) of human-marked (worst, clean) pairs have diff(worst) ≤ diff(clean)</a:t>
            </a:r>
            <a:r>
              <a:rPr lang="en-US" sz="1700" dirty="0">
                <a:solidFill>
                  <a:srgbClr val="555555"/>
                </a:solidFill>
              </a:rPr>
              <a:t>:</a:t>
            </a:r>
            <a:r>
              <a:rPr sz="1700" b="0" dirty="0">
                <a:solidFill>
                  <a:srgbClr val="555555"/>
                </a:solidFill>
              </a:rPr>
              <a:t> the auto pair points the wrong way.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26080"/>
            <a:ext cx="640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C0392B"/>
                </a:solidFill>
              </a:rPr>
              <a:t>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92608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2A2A2A"/>
                </a:solidFill>
              </a:rPr>
              <a:t>Naive integration cancels the gradient.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520440"/>
            <a:ext cx="10424160" cy="3539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dirty="0">
                <a:solidFill>
                  <a:srgbClr val="555555"/>
                </a:solidFill>
              </a:rPr>
              <a:t>Appending human pairs alongside the contradicting auto twins makes them point in opposite directions</a:t>
            </a:r>
            <a:r>
              <a:rPr lang="en-US" sz="1700" b="0" dirty="0">
                <a:solidFill>
                  <a:srgbClr val="555555"/>
                </a:solidFill>
              </a:rPr>
              <a:t>, nullifying.</a:t>
            </a:r>
            <a:endParaRPr sz="1700" b="0" dirty="0">
              <a:solidFill>
                <a:srgbClr val="555555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4480560"/>
            <a:ext cx="640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C0392B"/>
                </a:solidFill>
              </a:rPr>
              <a:t>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48056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2A2A2A"/>
                </a:solidFill>
              </a:rPr>
              <a:t>Human time is the binding constraint.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5074920"/>
            <a:ext cx="1042416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dirty="0">
                <a:solidFill>
                  <a:srgbClr val="555555"/>
                </a:solidFill>
              </a:rPr>
              <a:t>≈5 min/episode × 56 budget ≈ 5 hours of human attention. Every annotation </a:t>
            </a:r>
            <a:r>
              <a:rPr lang="en-US" sz="1700" b="0" dirty="0">
                <a:solidFill>
                  <a:srgbClr val="555555"/>
                </a:solidFill>
              </a:rPr>
              <a:t>must</a:t>
            </a:r>
            <a:r>
              <a:rPr sz="1700" b="0" dirty="0">
                <a:solidFill>
                  <a:srgbClr val="555555"/>
                </a:solidFill>
              </a:rPr>
              <a:t> </a:t>
            </a:r>
            <a:r>
              <a:rPr lang="en-US" sz="1700" b="0" dirty="0">
                <a:solidFill>
                  <a:srgbClr val="555555"/>
                </a:solidFill>
              </a:rPr>
              <a:t>count, so</a:t>
            </a:r>
            <a:r>
              <a:rPr sz="1700" b="0" dirty="0">
                <a:solidFill>
                  <a:srgbClr val="555555"/>
                </a:solidFill>
              </a:rPr>
              <a:t> selection strategy itself is part of the problem.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</a:rPr>
              <a:t>HRI Final · Human-in-the-Loop Congestion Classification for MAPF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F2E55"/>
                </a:solidFill>
              </a:rPr>
              <a:t>Key insight &amp;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5669280" cy="163006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txBody>
          <a:bodyPr wrap="square" lIns="182880" tIns="137160" rIns="182880" anchor="t">
            <a:spAutoFit/>
          </a:bodyPr>
          <a:lstStyle/>
          <a:p>
            <a:pPr algn="l"/>
            <a:r>
              <a:rPr sz="1300" b="1" dirty="0">
                <a:solidFill>
                  <a:srgbClr val="C0392B"/>
                </a:solidFill>
              </a:rPr>
              <a:t>Insight 1</a:t>
            </a:r>
          </a:p>
          <a:p>
            <a:pPr>
              <a:lnSpc>
                <a:spcPct val="120000"/>
              </a:lnSpc>
            </a:pPr>
            <a:r>
              <a:rPr sz="2000" b="1" dirty="0">
                <a:solidFill>
                  <a:srgbClr val="1F2E55"/>
                </a:solidFill>
              </a:rPr>
              <a:t>Override</a:t>
            </a:r>
            <a:r>
              <a:rPr lang="en-US" sz="2000" b="1" dirty="0">
                <a:solidFill>
                  <a:srgbClr val="1F2E55"/>
                </a:solidFill>
              </a:rPr>
              <a:t> except</a:t>
            </a:r>
            <a:r>
              <a:rPr sz="2000" b="1" dirty="0">
                <a:solidFill>
                  <a:srgbClr val="1F2E55"/>
                </a:solidFill>
              </a:rPr>
              <a:t> augment</a:t>
            </a:r>
          </a:p>
          <a:p>
            <a:pPr>
              <a:lnSpc>
                <a:spcPct val="130000"/>
              </a:lnSpc>
            </a:pPr>
            <a:r>
              <a:rPr sz="1500" dirty="0">
                <a:solidFill>
                  <a:srgbClr val="2A2A2A"/>
                </a:solidFill>
              </a:rPr>
              <a:t>For each annotated episode, replace the auto-pair list entirely with the single human pair at weight 1.0. 39 train pairs ≈ 0.15% of </a:t>
            </a:r>
            <a:r>
              <a:rPr lang="en-US" sz="1500" dirty="0">
                <a:solidFill>
                  <a:srgbClr val="2A2A2A"/>
                </a:solidFill>
              </a:rPr>
              <a:t>gradient but</a:t>
            </a:r>
            <a:r>
              <a:rPr sz="1500" dirty="0">
                <a:solidFill>
                  <a:srgbClr val="2A2A2A"/>
                </a:solidFill>
              </a:rPr>
              <a:t> placed exactly on the cases auto fits wrong.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280160"/>
            <a:ext cx="5212080" cy="163006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txBody>
          <a:bodyPr wrap="square" lIns="182880" tIns="137160" rIns="182880" anchor="t">
            <a:spAutoFit/>
          </a:bodyPr>
          <a:lstStyle/>
          <a:p>
            <a:pPr algn="l"/>
            <a:r>
              <a:rPr sz="1300" b="1" dirty="0">
                <a:solidFill>
                  <a:srgbClr val="C0392B"/>
                </a:solidFill>
              </a:rPr>
              <a:t>Insight 2</a:t>
            </a:r>
          </a:p>
          <a:p>
            <a:pPr>
              <a:lnSpc>
                <a:spcPct val="120000"/>
              </a:lnSpc>
            </a:pPr>
            <a:r>
              <a:rPr sz="2000" b="1" dirty="0">
                <a:solidFill>
                  <a:srgbClr val="1F2E55"/>
                </a:solidFill>
              </a:rPr>
              <a:t>Strategy of elicitation matters</a:t>
            </a:r>
          </a:p>
          <a:p>
            <a:pPr>
              <a:lnSpc>
                <a:spcPct val="130000"/>
              </a:lnSpc>
            </a:pPr>
            <a:r>
              <a:rPr sz="1500" dirty="0">
                <a:solidFill>
                  <a:srgbClr val="2A2A2A"/>
                </a:solidFill>
              </a:rPr>
              <a:t>Compare un-</a:t>
            </a:r>
            <a:r>
              <a:rPr sz="1500" dirty="0" err="1">
                <a:solidFill>
                  <a:srgbClr val="2A2A2A"/>
                </a:solidFill>
              </a:rPr>
              <a:t>prioritised</a:t>
            </a:r>
            <a:r>
              <a:rPr sz="1500" dirty="0">
                <a:solidFill>
                  <a:srgbClr val="2A2A2A"/>
                </a:solidFill>
              </a:rPr>
              <a:t> hand-curation vs uncertainty × diversity active learning vs pure-diversity AL at the same label budget.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C0392B"/>
                </a:solidFill>
              </a:rPr>
              <a:t>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2336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2A2A2A"/>
                </a:solidFill>
              </a:rPr>
              <a:t>• Small 3D CNN over a 16-step (4-channel × T × H × W) spatial-temporal volume → scalar segment score.
• RankNet pairwise loss on auto-pairs + Option-B human overrides.
• Replay tool: humans scrub each episode end-to-end, mark worst / clean / optional borderline.
• Pool-based active query with acquisition  H( σ(s_A − s_B) ) · ‖φ_A − φ_B‖  (uncertainty × diversity).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</a:rPr>
              <a:t>HRI Final · Human-in-the-Loop Congestion Classification for MAPF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dirty="0">
                <a:solidFill>
                  <a:srgbClr val="1F2E55"/>
                </a:solidFill>
              </a:rPr>
              <a:t>Results: hand-curation lifts every gold-label metric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dirty="0">
                <a:solidFill>
                  <a:srgbClr val="555555"/>
                </a:solidFill>
              </a:rPr>
              <a:t>On the same 13 held-out human pairs · best checkpoint per stage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6858000" cy="2548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2E55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2E55"/>
                          </a:solidFill>
                        </a:rPr>
                        <a:t>Stage 1 (auto only)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2E55"/>
                          </a:solidFill>
                        </a:rPr>
                        <a:t>Stage 2 (+39 human)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2E55"/>
                          </a:solidFill>
                        </a:rPr>
                        <a:t>Δ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A2A2A"/>
                          </a:solidFill>
                        </a:rPr>
                        <a:t>Pairwise (hp_v on 13)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A2A2A"/>
                          </a:solidFill>
                        </a:rPr>
                        <a:t>0.615  (8/13)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</a:rPr>
                        <a:t>0.846  (11/13)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</a:rPr>
                        <a:t>+0.231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A2A2A"/>
                          </a:solidFill>
                        </a:rPr>
                        <a:t>Exact-match (h-arg top-1)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A2A2A"/>
                          </a:solidFill>
                        </a:rPr>
                        <a:t>0.538  (7/13)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</a:rPr>
                        <a:t>0.615  (8/13)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</a:rPr>
                        <a:t>+0.077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A2A2A"/>
                          </a:solidFill>
                        </a:rPr>
                        <a:t>DDG argmax_pm1 (auto val maps)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A2A2A"/>
                          </a:solidFill>
                        </a:rPr>
                        <a:t>0.550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</a:rPr>
                        <a:t>0.541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</a:rPr>
                        <a:t>−0.009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A2A2A"/>
                          </a:solidFill>
                        </a:rPr>
                        <a:t>DDG top-3 (auto val maps)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A2A2A"/>
                          </a:solidFill>
                        </a:rPr>
                        <a:t>0.578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</a:rPr>
                        <a:t>0.559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</a:rPr>
                        <a:t>−0.019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20624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dirty="0">
                <a:solidFill>
                  <a:srgbClr val="C0392B"/>
                </a:solidFill>
              </a:rPr>
              <a:t>Walk-away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11064240" cy="1105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800" dirty="0">
                <a:solidFill>
                  <a:srgbClr val="2A2A2A"/>
                </a:solidFill>
              </a:rPr>
              <a:t>• </a:t>
            </a:r>
            <a:r>
              <a:rPr sz="1800" b="1" dirty="0">
                <a:solidFill>
                  <a:srgbClr val="C0392B"/>
                </a:solidFill>
              </a:rPr>
              <a:t>+3 of 13 pairs</a:t>
            </a:r>
            <a:r>
              <a:rPr sz="1800" b="0" dirty="0">
                <a:solidFill>
                  <a:srgbClr val="2A2A2A"/>
                </a:solidFill>
              </a:rPr>
              <a:t> ranked correctly · </a:t>
            </a:r>
            <a:r>
              <a:rPr sz="1800" b="1" dirty="0">
                <a:solidFill>
                  <a:srgbClr val="C0392B"/>
                </a:solidFill>
              </a:rPr>
              <a:t>+1 of 13</a:t>
            </a:r>
            <a:r>
              <a:rPr sz="1800" b="0" dirty="0">
                <a:solidFill>
                  <a:srgbClr val="2A2A2A"/>
                </a:solidFill>
              </a:rPr>
              <a:t> worst-segments identified exactly.</a:t>
            </a:r>
          </a:p>
          <a:p>
            <a:pPr>
              <a:lnSpc>
                <a:spcPct val="125000"/>
              </a:lnSpc>
            </a:pPr>
            <a:r>
              <a:rPr sz="1800" dirty="0">
                <a:solidFill>
                  <a:srgbClr val="2A2A2A"/>
                </a:solidFill>
              </a:rPr>
              <a:t>• </a:t>
            </a:r>
            <a:r>
              <a:rPr sz="1800" b="1" dirty="0">
                <a:solidFill>
                  <a:srgbClr val="2A2A2A"/>
                </a:solidFill>
              </a:rPr>
              <a:t>No measurable cost</a:t>
            </a:r>
            <a:r>
              <a:rPr sz="1800" b="0" dirty="0">
                <a:solidFill>
                  <a:srgbClr val="2A2A2A"/>
                </a:solidFill>
              </a:rPr>
              <a:t> on </a:t>
            </a:r>
            <a:r>
              <a:rPr sz="1800" b="0">
                <a:solidFill>
                  <a:srgbClr val="2A2A2A"/>
                </a:solidFill>
              </a:rPr>
              <a:t>auto-aligned ranking </a:t>
            </a:r>
            <a:r>
              <a:rPr lang="en-US" sz="1800" b="0" dirty="0">
                <a:solidFill>
                  <a:srgbClr val="2A2A2A"/>
                </a:solidFill>
              </a:rPr>
              <a:t>both DDG</a:t>
            </a:r>
            <a:r>
              <a:rPr sz="1800" b="0" dirty="0">
                <a:solidFill>
                  <a:srgbClr val="2A2A2A"/>
                </a:solidFill>
              </a:rPr>
              <a:t> metrics within 2 points.</a:t>
            </a:r>
          </a:p>
          <a:p>
            <a:pPr>
              <a:lnSpc>
                <a:spcPct val="125000"/>
              </a:lnSpc>
            </a:pPr>
            <a:r>
              <a:rPr sz="1800" dirty="0">
                <a:solidFill>
                  <a:srgbClr val="2A2A2A"/>
                </a:solidFill>
              </a:rPr>
              <a:t>• </a:t>
            </a:r>
            <a:r>
              <a:rPr sz="1800" b="0" dirty="0">
                <a:solidFill>
                  <a:srgbClr val="2A2A2A"/>
                </a:solidFill>
              </a:rPr>
              <a:t>Deployment-ready checkpoint: </a:t>
            </a:r>
            <a:r>
              <a:rPr sz="1600" b="1" dirty="0">
                <a:solidFill>
                  <a:srgbClr val="1F2E55"/>
                </a:solidFill>
              </a:rPr>
              <a:t>with_human_labels.human_argmax_top1.pt</a:t>
            </a:r>
            <a:r>
              <a:rPr sz="1800" b="0" dirty="0">
                <a:solidFill>
                  <a:srgbClr val="2A2A2A"/>
                </a:solidFill>
              </a:rPr>
              <a:t> (best across all 4 save criteria).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</a:rPr>
              <a:t>HRI Final · Human-in-the-Loop Congestion Classification for MAPF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43D7C21-76FB-1EFC-8346-D375F0D57F58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53799386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65D5E117-B642-C392-CCE2-6B4A61C967FC}"/>
              </a:ext>
            </a:extLst>
          </p:cNvPr>
          <p:cNvSpPr txBox="1"/>
          <p:nvPr/>
        </p:nvSpPr>
        <p:spPr>
          <a:xfrm>
            <a:off x="548640" y="365760"/>
            <a:ext cx="10972800" cy="5539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3000" b="1" dirty="0">
                <a:solidFill>
                  <a:srgbClr val="1F2E55"/>
                </a:solidFill>
              </a:rPr>
              <a:t>Add SVGs</a:t>
            </a:r>
            <a:endParaRPr sz="3000" b="1" dirty="0">
              <a:solidFill>
                <a:srgbClr val="1F2E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20119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dirty="0">
                <a:solidFill>
                  <a:srgbClr val="1F2E55"/>
                </a:solidFill>
              </a:rPr>
              <a:t>Active-learning exte</a:t>
            </a:r>
            <a:r>
              <a:rPr lang="en-US" sz="2800" b="1" dirty="0">
                <a:solidFill>
                  <a:srgbClr val="1F2E55"/>
                </a:solidFill>
              </a:rPr>
              <a:t>nsion</a:t>
            </a:r>
            <a:endParaRPr sz="2800" b="1" dirty="0">
              <a:solidFill>
                <a:srgbClr val="1F2E55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dirty="0">
                <a:solidFill>
                  <a:srgbClr val="555555"/>
                </a:solidFill>
              </a:rPr>
              <a:t>Same trainer, same data, same ~56-label budget</a:t>
            </a:r>
            <a:r>
              <a:rPr lang="en-US" sz="1400" b="0" dirty="0">
                <a:solidFill>
                  <a:srgbClr val="555555"/>
                </a:solidFill>
              </a:rPr>
              <a:t>:</a:t>
            </a:r>
            <a:r>
              <a:rPr sz="1400" b="0" dirty="0">
                <a:solidFill>
                  <a:srgbClr val="555555"/>
                </a:solidFill>
              </a:rPr>
              <a:t> only the acquisition strategy differs.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2857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28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128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28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128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E55"/>
                          </a:solidFill>
                        </a:rPr>
                        <a:t>Stage 1
(auto only)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E55"/>
                          </a:solidFill>
                        </a:rPr>
                        <a:t>Stage 2
(un-prioritised hand)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E55"/>
                          </a:solidFill>
                        </a:rPr>
                        <a:t>Stage 3
(warm-start AL)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E55"/>
                          </a:solidFill>
                        </a:rPr>
                        <a:t>Stage 4
(cold-start AL)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Acquisition rule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annotator coverage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uncertainty × diversity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pure feature diversity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Pairwise (hp_v on 13)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0.615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0.846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[PENDING]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[PENDING]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Exact-match (h-arg top-1, 13)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0.538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0.615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[PENDING]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[PENDING]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DDG argmax_pm1 (auto val)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0.550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0.541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[PENDING]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[PENDING]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DDG top-3 (auto val)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0.578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0.559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[PENDING]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[PENDING]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Annotator hours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≈3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≈3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≈3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Distinct episodes labelled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≤28 (cap)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≤28 (cap)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34840"/>
            <a:ext cx="110642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400" b="1" dirty="0">
                <a:solidFill>
                  <a:srgbClr val="C0392B"/>
                </a:solidFill>
              </a:rPr>
              <a:t>Walk-aways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00600"/>
            <a:ext cx="11064240" cy="3595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lang="en-US" sz="1500" b="0" dirty="0">
                <a:solidFill>
                  <a:srgbClr val="2A2A2A"/>
                </a:solidFill>
              </a:rPr>
              <a:t>[FILL IN with 2-3 takeaways]</a:t>
            </a:r>
            <a:endParaRPr sz="1500" b="0" dirty="0">
              <a:solidFill>
                <a:srgbClr val="2A2A2A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</a:rPr>
              <a:t>HRI Final · Human-in-the-Loop Congestion Classification for MAPF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</a:rPr>
              <a:t>7 /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dirty="0">
                <a:solidFill>
                  <a:srgbClr val="1F2E55"/>
                </a:solidFill>
              </a:rPr>
              <a:t>Conclusion &amp;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0392B"/>
                </a:solidFill>
              </a:rPr>
              <a:t>Walk-aways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1161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900" dirty="0">
                <a:solidFill>
                  <a:srgbClr val="2A2A2A"/>
                </a:solidFill>
              </a:rPr>
              <a:t>• </a:t>
            </a:r>
            <a:r>
              <a:rPr sz="1900" b="0" dirty="0">
                <a:solidFill>
                  <a:srgbClr val="2A2A2A"/>
                </a:solidFill>
              </a:rPr>
              <a:t>39 human pairs (≈0.15% of gradient) → </a:t>
            </a:r>
            <a:r>
              <a:rPr sz="1900" b="1" dirty="0">
                <a:solidFill>
                  <a:srgbClr val="C0392B"/>
                </a:solidFill>
              </a:rPr>
              <a:t>+23 pp pairwise / +8 pp exact-match</a:t>
            </a:r>
            <a:r>
              <a:rPr sz="1900" b="0" dirty="0">
                <a:solidFill>
                  <a:srgbClr val="2A2A2A"/>
                </a:solidFill>
              </a:rPr>
              <a:t> human alignment, no DDG cost.</a:t>
            </a:r>
          </a:p>
          <a:p>
            <a:pPr>
              <a:lnSpc>
                <a:spcPct val="125000"/>
              </a:lnSpc>
            </a:pPr>
            <a:r>
              <a:rPr sz="1900" dirty="0">
                <a:solidFill>
                  <a:srgbClr val="2A2A2A"/>
                </a:solidFill>
              </a:rPr>
              <a:t>• </a:t>
            </a:r>
            <a:r>
              <a:rPr sz="1900" b="0" dirty="0">
                <a:solidFill>
                  <a:srgbClr val="2A2A2A"/>
                </a:solidFill>
              </a:rPr>
              <a:t>The </a:t>
            </a:r>
            <a:r>
              <a:rPr sz="1900" b="1" dirty="0">
                <a:solidFill>
                  <a:srgbClr val="2A2A2A"/>
                </a:solidFill>
              </a:rPr>
              <a:t>save-best criterion</a:t>
            </a:r>
            <a:r>
              <a:rPr sz="1900" b="0" dirty="0">
                <a:solidFill>
                  <a:srgbClr val="2A2A2A"/>
                </a:solidFill>
              </a:rPr>
              <a:t> is itself a deployment choice</a:t>
            </a:r>
            <a:r>
              <a:rPr lang="en-US" sz="1900" b="0" dirty="0">
                <a:solidFill>
                  <a:srgbClr val="2A2A2A"/>
                </a:solidFill>
              </a:rPr>
              <a:t>:</a:t>
            </a:r>
            <a:r>
              <a:rPr sz="1900" b="0" dirty="0">
                <a:solidFill>
                  <a:srgbClr val="2A2A2A"/>
                </a:solidFill>
              </a:rPr>
              <a:t> 4 saved checkpoints differ by 31 pp on top-1 metric.</a:t>
            </a:r>
          </a:p>
          <a:p>
            <a:pPr>
              <a:lnSpc>
                <a:spcPct val="125000"/>
              </a:lnSpc>
            </a:pPr>
            <a:r>
              <a:rPr sz="1900" dirty="0">
                <a:solidFill>
                  <a:srgbClr val="2A2A2A"/>
                </a:solidFill>
              </a:rPr>
              <a:t>• </a:t>
            </a:r>
            <a:r>
              <a:rPr sz="1900" b="0" dirty="0">
                <a:solidFill>
                  <a:srgbClr val="2A2A2A"/>
                </a:solidFill>
              </a:rPr>
              <a:t>The </a:t>
            </a:r>
            <a:r>
              <a:rPr sz="1900" b="1" dirty="0">
                <a:solidFill>
                  <a:srgbClr val="2A2A2A"/>
                </a:solidFill>
              </a:rPr>
              <a:t>acquisition-strategy comparison</a:t>
            </a:r>
            <a:r>
              <a:rPr sz="1900" b="0" dirty="0">
                <a:solidFill>
                  <a:srgbClr val="2A2A2A"/>
                </a:solidFill>
              </a:rPr>
              <a:t> (Stages 1–4 at fixed budget) is the contribution that adds depth.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0392B"/>
                </a:solidFill>
              </a:rPr>
              <a:t>Honest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1064240" cy="17032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700" dirty="0">
                <a:solidFill>
                  <a:srgbClr val="555555"/>
                </a:solidFill>
              </a:rPr>
              <a:t>• Run-to-run variance is large: </a:t>
            </a:r>
            <a:r>
              <a:rPr sz="1700" dirty="0" err="1">
                <a:solidFill>
                  <a:srgbClr val="555555"/>
                </a:solidFill>
              </a:rPr>
              <a:t>hp_val</a:t>
            </a:r>
            <a:r>
              <a:rPr sz="1700" dirty="0">
                <a:solidFill>
                  <a:srgbClr val="555555"/>
                </a:solidFill>
              </a:rPr>
              <a:t> swung 0.615 ↔ 0.846 across two reseeds. Multi-seed averaging is the obvious follow-up.</a:t>
            </a:r>
          </a:p>
          <a:p>
            <a:pPr>
              <a:lnSpc>
                <a:spcPct val="125000"/>
              </a:lnSpc>
            </a:pPr>
            <a:r>
              <a:rPr sz="1700" dirty="0">
                <a:solidFill>
                  <a:srgbClr val="555555"/>
                </a:solidFill>
              </a:rPr>
              <a:t>• Stages 3 &amp; 4 single-seed at submission time.</a:t>
            </a:r>
          </a:p>
          <a:p>
            <a:pPr>
              <a:lnSpc>
                <a:spcPct val="125000"/>
              </a:lnSpc>
            </a:pPr>
            <a:r>
              <a:rPr sz="1700" dirty="0">
                <a:solidFill>
                  <a:srgbClr val="555555"/>
                </a:solidFill>
              </a:rPr>
              <a:t>• No downstream MAPF-GPT impact study yet</a:t>
            </a:r>
            <a:r>
              <a:rPr lang="en-US" sz="1700" dirty="0">
                <a:solidFill>
                  <a:srgbClr val="555555"/>
                </a:solidFill>
              </a:rPr>
              <a:t>:</a:t>
            </a:r>
            <a:r>
              <a:rPr sz="1700" dirty="0">
                <a:solidFill>
                  <a:srgbClr val="555555"/>
                </a:solidFill>
              </a:rPr>
              <a:t> does using this classifier in DDG </a:t>
            </a:r>
            <a:r>
              <a:rPr lang="en-US" sz="1700" dirty="0">
                <a:solidFill>
                  <a:srgbClr val="555555"/>
                </a:solidFill>
              </a:rPr>
              <a:t>train</a:t>
            </a:r>
            <a:r>
              <a:rPr sz="1700" dirty="0">
                <a:solidFill>
                  <a:srgbClr val="555555"/>
                </a:solidFill>
              </a:rPr>
              <a:t> a better policy on POGEMA? The most consequential open question.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</a:rPr>
              <a:t>HRI Final · Human-in-the-Loop Congestion Classification for MAPF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</a:rPr>
              <a:t>8 / 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D18F0E8-A2B4-662E-C154-CFC770DF08C9}"/>
              </a:ext>
            </a:extLst>
          </p:cNvPr>
          <p:cNvSpPr txBox="1"/>
          <p:nvPr/>
        </p:nvSpPr>
        <p:spPr>
          <a:xfrm>
            <a:off x="548640" y="2832518"/>
            <a:ext cx="10972800" cy="7694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en-US" sz="4400" b="1" dirty="0">
                <a:solidFill>
                  <a:srgbClr val="1F2E55"/>
                </a:solidFill>
              </a:rPr>
              <a:t>Thank you! </a:t>
            </a:r>
            <a:endParaRPr sz="4400" b="1" dirty="0">
              <a:solidFill>
                <a:srgbClr val="1F2E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720175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1548</Words>
  <Application>Microsoft Macintosh PowerPoint</Application>
  <PresentationFormat>Widescreen</PresentationFormat>
  <Paragraphs>160</Paragraphs>
  <Slides>10</Slides>
  <Notes>8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Office Theme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Sparsh Bansal</cp:lastModifiedBy>
  <cp:revision>37</cp:revision>
  <dcterms:created xsi:type="dcterms:W3CDTF">2013-01-27T09:14:16Z</dcterms:created>
  <dcterms:modified xsi:type="dcterms:W3CDTF">2026-05-02T22:39:11Z</dcterms:modified>
  <cp:category/>
</cp:coreProperties>
</file>